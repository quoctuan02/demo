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3" r:id="rId7"/>
    <p:sldId id="266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81" r:id="rId21"/>
    <p:sldId id="279" r:id="rId22"/>
    <p:sldId id="280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5/27/2019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5/27/2019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0891" y="1541417"/>
            <a:ext cx="112340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8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TRONG   C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038011" y="6226629"/>
            <a:ext cx="4693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© 2019 Nguyễn Quốc Tuấn Designers</a:t>
            </a:r>
            <a:endParaRPr lang="en-US" sz="25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105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80160" y="2638697"/>
            <a:ext cx="6818811" cy="3862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pPr marL="457200" indent="-457200">
              <a:buFontTx/>
              <a:buChar char="-"/>
            </a:pPr>
            <a:r>
              <a:rPr lang="vi-VN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ùng để làm gì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Nó như thế nào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loai hàm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Làm sao để sử dụng được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Ví dụ minh họa .</a:t>
            </a:r>
          </a:p>
          <a:p>
            <a:pPr marL="457200" indent="-457200">
              <a:buFontTx/>
              <a:buChar char="-"/>
            </a:pP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08367" y="461554"/>
            <a:ext cx="61308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</a:rPr>
              <a:t>HÀM   </a:t>
            </a:r>
            <a:r>
              <a:rPr lang="vi-VN" sz="4000" dirty="0" smtClean="0"/>
              <a:t>( Funstion )</a:t>
            </a:r>
            <a:endParaRPr lang="en-US" sz="4000" dirty="0"/>
          </a:p>
        </p:txBody>
      </p:sp>
      <p:sp>
        <p:nvSpPr>
          <p:cNvPr id="12" name="TextBox 11"/>
          <p:cNvSpPr txBox="1"/>
          <p:nvPr/>
        </p:nvSpPr>
        <p:spPr>
          <a:xfrm>
            <a:off x="8255726" y="6287589"/>
            <a:ext cx="3779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© 2019 Nguyễn Quốc Tuấn Designers</a:t>
            </a:r>
            <a:endParaRPr lang="en-US" sz="25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646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040777" y="566057"/>
            <a:ext cx="372726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endParaRPr lang="en-US" sz="5500" dirty="0"/>
          </a:p>
        </p:txBody>
      </p:sp>
    </p:spTree>
    <p:extLst>
      <p:ext uri="{BB962C8B-B14F-4D97-AF65-F5344CB8AC3E}">
        <p14:creationId xmlns:p14="http://schemas.microsoft.com/office/powerpoint/2010/main" val="3683189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040777" y="566057"/>
            <a:ext cx="372726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endParaRPr lang="en-US" sz="5500" dirty="0"/>
          </a:p>
        </p:txBody>
      </p:sp>
      <p:sp>
        <p:nvSpPr>
          <p:cNvPr id="7" name="TextBox 6"/>
          <p:cNvSpPr txBox="1"/>
          <p:nvPr/>
        </p:nvSpPr>
        <p:spPr>
          <a:xfrm>
            <a:off x="1079862" y="2002971"/>
            <a:ext cx="956201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/>
              <a:t>- Hàm là đoạn chương trình thực hiện trọn vẹn một công việc nhất định (cụ thể).</a:t>
            </a:r>
          </a:p>
          <a:p>
            <a:endParaRPr lang="vi-VN" sz="3200" dirty="0"/>
          </a:p>
          <a:p>
            <a:r>
              <a:rPr lang="vi-VN" sz="3200" dirty="0" smtClean="0"/>
              <a:t> 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88283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040777" y="566057"/>
            <a:ext cx="372726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endParaRPr lang="en-US" sz="5500" dirty="0"/>
          </a:p>
        </p:txBody>
      </p:sp>
      <p:sp>
        <p:nvSpPr>
          <p:cNvPr id="7" name="TextBox 6"/>
          <p:cNvSpPr txBox="1"/>
          <p:nvPr/>
        </p:nvSpPr>
        <p:spPr>
          <a:xfrm>
            <a:off x="1079862" y="2002971"/>
            <a:ext cx="95620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/>
              <a:t>- Hàm là đoạn chương trình thực hiện trọn vẹn một công việc nhất định (cụ thể).</a:t>
            </a:r>
          </a:p>
          <a:p>
            <a:endParaRPr lang="vi-VN" sz="3200" dirty="0"/>
          </a:p>
          <a:p>
            <a:r>
              <a:rPr lang="vi-VN" sz="3200" dirty="0"/>
              <a:t>- Ví dụ: chức năng cộng, trừ, nhân, chia. Chức năng tìm số lớn nhất, nhỏ nhất, hoặc đổi chổ hai phần tử...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20994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7980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	Hàm giúp tách một chương trinh ra thành các đoạn code 	nhỏ có chức năng cụ thể, hoàn chỉnh.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309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giúp tách một chương trinh ra thành các đoạn code nhỏ có chức năng cụ thể, hoàn chỉnh.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Dễ quản lý chương trinh.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284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giúp tách một chương trinh ra thành các đoạn code nhỏ có chức năng cụ thể, hoàn chỉnh.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Dễ quản lý chương trinh.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Rõ ràng, tường minh từng chức năng.</a:t>
            </a:r>
          </a:p>
          <a:p>
            <a:pPr marL="457200" indent="-457200">
              <a:buFontTx/>
              <a:buChar char="-"/>
            </a:pPr>
            <a:endParaRPr lang="vi-V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176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giúp tách một chương trinh ra thành các đoạn code nhỏ có chức năng cụ thể, hoàn chỉnh.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Dễ quản lý chương trinh.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Rõ ràng, tường minh từng chức năng.</a:t>
            </a:r>
          </a:p>
          <a:p>
            <a:pPr marL="457200" indent="-457200">
              <a:buFontTx/>
              <a:buChar char="-"/>
            </a:pPr>
            <a:endParaRPr lang="vi-V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tái sử dụng lại code.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349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529162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691378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77" y="2673042"/>
            <a:ext cx="3048000" cy="141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076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77" y="2673042"/>
            <a:ext cx="3048000" cy="141127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751" y="1990726"/>
            <a:ext cx="4199271" cy="219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911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77" y="2673042"/>
            <a:ext cx="3048000" cy="141127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751" y="1990726"/>
            <a:ext cx="4199271" cy="219809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2606" y="4372361"/>
            <a:ext cx="5103223" cy="2158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421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91998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5395" y="1654630"/>
            <a:ext cx="108508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Ta phân biệt hai khái niệm: khai báo là khai báo nguyên mẫu. Còn định nghĩa là viết nội dung cụ thể của hàm.</a:t>
            </a:r>
          </a:p>
          <a:p>
            <a:pPr marL="457200" indent="-457200">
              <a:buFontTx/>
              <a:buChar char="-"/>
            </a:pP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72604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5395" y="1645921"/>
            <a:ext cx="1087700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Ta phân biệt hai khái niệm: khai báo là khai báo nguyên mẫu. Còn định nghĩa là viết nội dung cụ thể của hàm.</a:t>
            </a:r>
          </a:p>
          <a:p>
            <a:pPr marL="457200" indent="-457200">
              <a:buFontTx/>
              <a:buChar char="-"/>
            </a:pPr>
            <a:endParaRPr lang="vi-VN" sz="2800" dirty="0" smtClean="0">
              <a:latin typeface="+mj-lt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Khai báo: </a:t>
            </a:r>
          </a:p>
          <a:p>
            <a:pPr lvl="2"/>
            <a:r>
              <a:rPr lang="vi-VN" sz="2400" dirty="0" smtClean="0">
                <a:solidFill>
                  <a:srgbClr val="FFFF00"/>
                </a:solidFill>
              </a:rPr>
              <a:t>Kiểu_trả_về</a:t>
            </a:r>
            <a:r>
              <a:rPr lang="vi-VN" sz="2400" dirty="0" smtClean="0"/>
              <a:t>  </a:t>
            </a:r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t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ên_hàm</a:t>
            </a:r>
            <a:r>
              <a:rPr lang="vi-VN" sz="2400" dirty="0" smtClean="0"/>
              <a:t>( khai báo </a:t>
            </a:r>
            <a:r>
              <a:rPr lang="vi-VN" sz="2400" dirty="0" smtClean="0">
                <a:solidFill>
                  <a:schemeClr val="accent6">
                    <a:lumMod val="75000"/>
                  </a:schemeClr>
                </a:solidFill>
              </a:rPr>
              <a:t>danh_sách_tham_số</a:t>
            </a:r>
            <a:r>
              <a:rPr lang="vi-VN" sz="2400" dirty="0" smtClean="0"/>
              <a:t> ) ;</a:t>
            </a:r>
          </a:p>
        </p:txBody>
      </p:sp>
    </p:spTree>
    <p:extLst>
      <p:ext uri="{BB962C8B-B14F-4D97-AF65-F5344CB8AC3E}">
        <p14:creationId xmlns:p14="http://schemas.microsoft.com/office/powerpoint/2010/main" val="99034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5394" y="1645921"/>
            <a:ext cx="1130372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Ta phân biệt hai khái niệm: khai báo là khai báo nguyên mẫu. Còn định nghĩa là viết nội dung cụ thể của hàm.</a:t>
            </a:r>
          </a:p>
          <a:p>
            <a:pPr marL="457200" indent="-457200">
              <a:buFontTx/>
              <a:buChar char="-"/>
            </a:pPr>
            <a:endParaRPr lang="vi-VN" sz="2800" dirty="0" smtClean="0">
              <a:latin typeface="+mj-lt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Khai báo: </a:t>
            </a:r>
          </a:p>
          <a:p>
            <a:pPr lvl="2"/>
            <a:r>
              <a:rPr lang="vi-VN" sz="2400" dirty="0" smtClean="0">
                <a:solidFill>
                  <a:srgbClr val="FFFF00"/>
                </a:solidFill>
              </a:rPr>
              <a:t>Kiểu_trả_về</a:t>
            </a:r>
            <a:r>
              <a:rPr lang="vi-VN" sz="2400" dirty="0" smtClean="0"/>
              <a:t>  </a:t>
            </a:r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t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ên_hàm</a:t>
            </a:r>
            <a:r>
              <a:rPr lang="vi-VN" sz="2400" dirty="0" smtClean="0"/>
              <a:t>( khai báo </a:t>
            </a:r>
            <a:r>
              <a:rPr lang="vi-VN" sz="2400" dirty="0" smtClean="0">
                <a:solidFill>
                  <a:schemeClr val="accent6">
                    <a:lumMod val="75000"/>
                  </a:schemeClr>
                </a:solidFill>
              </a:rPr>
              <a:t>danh_sách_tham_số</a:t>
            </a:r>
            <a:r>
              <a:rPr lang="vi-VN" sz="2400" dirty="0" smtClean="0"/>
              <a:t> ) ;</a:t>
            </a:r>
          </a:p>
          <a:p>
            <a:pPr marL="457200" indent="-457200">
              <a:buFontTx/>
              <a:buChar char="-"/>
            </a:pPr>
            <a:endParaRPr lang="vi-VN" sz="2400" dirty="0"/>
          </a:p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Định nghĩa: </a:t>
            </a:r>
          </a:p>
          <a:p>
            <a:pPr lvl="1"/>
            <a:r>
              <a:rPr lang="vi-VN" sz="2400" dirty="0" smtClean="0">
                <a:solidFill>
                  <a:srgbClr val="FFFF00"/>
                </a:solidFill>
              </a:rPr>
              <a:t>	Kiểu_trả_về</a:t>
            </a:r>
            <a:r>
              <a:rPr lang="vi-VN" sz="2400" dirty="0" smtClean="0"/>
              <a:t>  </a:t>
            </a:r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tên_hàm</a:t>
            </a:r>
            <a:r>
              <a:rPr lang="vi-VN" sz="2400" dirty="0" smtClean="0"/>
              <a:t>( khai báo </a:t>
            </a:r>
            <a:r>
              <a:rPr lang="vi-VN" sz="2400" dirty="0">
                <a:solidFill>
                  <a:schemeClr val="accent6">
                    <a:lumMod val="75000"/>
                  </a:schemeClr>
                </a:solidFill>
              </a:rPr>
              <a:t>danh_sách_tham_số</a:t>
            </a:r>
            <a:r>
              <a:rPr lang="vi-VN" sz="2400" dirty="0"/>
              <a:t> </a:t>
            </a:r>
            <a:r>
              <a:rPr lang="vi-VN" sz="2800" dirty="0" smtClean="0"/>
              <a:t>){</a:t>
            </a:r>
          </a:p>
          <a:p>
            <a:pPr lvl="1"/>
            <a:r>
              <a:rPr lang="vi-VN" sz="2800" dirty="0">
                <a:latin typeface="+mj-lt"/>
              </a:rPr>
              <a:t>	</a:t>
            </a:r>
            <a:r>
              <a:rPr lang="vi-VN" sz="2800" dirty="0" smtClean="0">
                <a:latin typeface="+mj-lt"/>
              </a:rPr>
              <a:t>	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// khối lệnh</a:t>
            </a:r>
          </a:p>
          <a:p>
            <a:pPr lvl="1"/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	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	</a:t>
            </a:r>
            <a:r>
              <a:rPr lang="vi-VN" sz="2400" dirty="0" smtClean="0">
                <a:solidFill>
                  <a:schemeClr val="accent1">
                    <a:lumMod val="75000"/>
                  </a:schemeClr>
                </a:solidFill>
              </a:rPr>
              <a:t>return </a:t>
            </a:r>
            <a:r>
              <a:rPr lang="vi-VN" sz="2400" dirty="0" smtClean="0">
                <a:solidFill>
                  <a:srgbClr val="FFFF00"/>
                </a:solidFill>
              </a:rPr>
              <a:t>Giá_trị </a:t>
            </a:r>
            <a:r>
              <a:rPr lang="vi-VN" sz="2400" dirty="0" smtClean="0"/>
              <a:t>; </a:t>
            </a:r>
            <a:r>
              <a:rPr lang="vi-VN" sz="2400" dirty="0" smtClean="0">
                <a:solidFill>
                  <a:srgbClr val="00B0F0"/>
                </a:solidFill>
              </a:rPr>
              <a:t>// nếu kiểu_trả_về là void thì không cần câu lệnh này	</a:t>
            </a:r>
          </a:p>
          <a:p>
            <a:pPr lvl="1"/>
            <a:r>
              <a:rPr lang="vi-VN" sz="2400" dirty="0" smtClean="0">
                <a:latin typeface="+mj-lt"/>
              </a:rPr>
              <a:t>	}</a:t>
            </a:r>
            <a:endParaRPr lang="vi-VN" sz="2800" dirty="0" smtClean="0"/>
          </a:p>
          <a:p>
            <a:pPr marL="457200" indent="-457200">
              <a:buFontTx/>
              <a:buChar char="-"/>
            </a:pPr>
            <a:endParaRPr lang="vi-VN" sz="2400" dirty="0" smtClean="0"/>
          </a:p>
        </p:txBody>
      </p:sp>
    </p:spTree>
    <p:extLst>
      <p:ext uri="{BB962C8B-B14F-4D97-AF65-F5344CB8AC3E}">
        <p14:creationId xmlns:p14="http://schemas.microsoft.com/office/powerpoint/2010/main" val="4282984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Trong đó</a:t>
            </a:r>
            <a:r>
              <a:rPr lang="vi-VN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FFFF00"/>
                </a:solidFill>
              </a:rPr>
              <a:t>Kiểu_trả_về:  </a:t>
            </a:r>
            <a:r>
              <a:rPr lang="vi-VN" sz="2300" dirty="0" smtClean="0"/>
              <a:t>là kiểu hợp lệ trong ngôn ngữ C, thường là void, kiểu cơ bản ( nguyên thủy ), kiểu con trỏ, ...</a:t>
            </a:r>
            <a:r>
              <a:rPr lang="vi-VN" sz="2500" dirty="0" smtClean="0"/>
              <a:t> 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79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Trong đó</a:t>
            </a:r>
            <a:r>
              <a:rPr lang="vi-VN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FFFF00"/>
                </a:solidFill>
              </a:rPr>
              <a:t>Kiểu_trả_về:  </a:t>
            </a:r>
            <a:r>
              <a:rPr lang="vi-VN" sz="2300" dirty="0" smtClean="0"/>
              <a:t>là kiểu hợp lệ trong ngôn ngữ C, thường là void, kiểu cơ bản ( nguyên thủy ), kiểu con trỏ, ...</a:t>
            </a:r>
            <a:r>
              <a:rPr lang="vi-VN" sz="2500" dirty="0" smtClean="0"/>
              <a:t> </a:t>
            </a:r>
          </a:p>
          <a:p>
            <a:pPr marL="342900" indent="-342900">
              <a:buFontTx/>
              <a:buChar char="-"/>
            </a:pPr>
            <a:endParaRPr lang="vi-VN" sz="2500" dirty="0" smtClean="0"/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Tên_hàm:</a:t>
            </a:r>
            <a:r>
              <a:rPr lang="vi-VN" sz="23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do người dùng tự đặt, liên quan đến chứ năng của hàm, tránh các keyword, theo quy tắc CamelCase.</a:t>
            </a:r>
            <a:endParaRPr lang="en-US" sz="23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923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Trong đó</a:t>
            </a:r>
            <a:r>
              <a:rPr lang="vi-VN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FFFF00"/>
                </a:solidFill>
              </a:rPr>
              <a:t>Kiểu_trả_về:  </a:t>
            </a:r>
            <a:r>
              <a:rPr lang="vi-VN" sz="2300" dirty="0" smtClean="0"/>
              <a:t>là kiểu hợp lệ trong ngôn ngữ C, thường là void, kiểu cơ bản ( nguyên thủy ), kiểu con trỏ, ...</a:t>
            </a:r>
            <a:r>
              <a:rPr lang="vi-VN" sz="2500" dirty="0" smtClean="0"/>
              <a:t> </a:t>
            </a:r>
          </a:p>
          <a:p>
            <a:pPr marL="342900" indent="-342900">
              <a:buFontTx/>
              <a:buChar char="-"/>
            </a:pPr>
            <a:endParaRPr lang="vi-VN" sz="2500" dirty="0" smtClean="0"/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Tên_hàm:</a:t>
            </a:r>
            <a:r>
              <a:rPr lang="vi-VN" sz="25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do người dùng tự đặt, liên quan đến chứ năng của hàm, tránh các keyword, theo quy tắc CamelCase.</a:t>
            </a:r>
          </a:p>
          <a:p>
            <a:pPr marL="342900" indent="-342900">
              <a:buFontTx/>
              <a:buChar char="-"/>
            </a:pPr>
            <a:endParaRPr lang="vi-VN" sz="2300" dirty="0" smtClean="0"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Danh_sách_tham_số</a:t>
            </a:r>
            <a:r>
              <a:rPr lang="vi-VN" sz="2500" dirty="0" smtClean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vi-VN" sz="23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không bắt buộc, các </a:t>
            </a:r>
            <a:r>
              <a:rPr lang="vi-VN" sz="23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tham_số</a:t>
            </a:r>
            <a:r>
              <a:rPr lang="vi-VN" sz="2300" dirty="0" smtClean="0">
                <a:cs typeface="Times New Roman" panose="02020603050405020304" pitchFamily="18" charset="0"/>
              </a:rPr>
              <a:t> có thể có hoặc không tùy thuộc vào mục đích sử dụng của hàm đó.</a:t>
            </a:r>
            <a:endParaRPr lang="en-US" sz="25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184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Trong đó</a:t>
            </a:r>
            <a:r>
              <a:rPr lang="vi-VN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FFFF00"/>
                </a:solidFill>
              </a:rPr>
              <a:t>Kiểu_trả_về:  </a:t>
            </a:r>
            <a:r>
              <a:rPr lang="vi-VN" sz="2300" dirty="0" smtClean="0"/>
              <a:t>là kiểu hợp lệ trong ngôn ngữ C, thường là void, kiểu cơ bản ( nguyên thủy ), kiểu con trỏ, ...</a:t>
            </a:r>
            <a:r>
              <a:rPr lang="vi-VN" sz="2500" dirty="0" smtClean="0"/>
              <a:t> </a:t>
            </a:r>
          </a:p>
          <a:p>
            <a:pPr marL="342900" indent="-342900">
              <a:buFontTx/>
              <a:buChar char="-"/>
            </a:pPr>
            <a:endParaRPr lang="vi-VN" sz="2500" dirty="0" smtClean="0"/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Tên_hàm:</a:t>
            </a:r>
            <a:r>
              <a:rPr lang="vi-VN" sz="25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do người dùng tự đặt, liên quan đến chứ năng của hàm, tránh các keyword, theo quy tắc CamelCase.</a:t>
            </a:r>
          </a:p>
          <a:p>
            <a:pPr marL="342900" indent="-342900">
              <a:buFontTx/>
              <a:buChar char="-"/>
            </a:pPr>
            <a:endParaRPr lang="vi-VN" sz="2300" dirty="0" smtClean="0"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Danh_sách_tham_số</a:t>
            </a:r>
            <a:r>
              <a:rPr lang="vi-VN" sz="2500" dirty="0" smtClean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vi-VN" sz="23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không bắt buộc, các </a:t>
            </a:r>
            <a:r>
              <a:rPr lang="vi-VN" sz="23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tham_số</a:t>
            </a:r>
            <a:r>
              <a:rPr lang="vi-VN" sz="2300" dirty="0" smtClean="0">
                <a:cs typeface="Times New Roman" panose="02020603050405020304" pitchFamily="18" charset="0"/>
              </a:rPr>
              <a:t> có thể có hoặc không tùy thuộc vào mục đích sử dụng của hàm đó.</a:t>
            </a:r>
          </a:p>
          <a:p>
            <a:pPr marL="342900" indent="-342900">
              <a:buFontTx/>
              <a:buChar char="-"/>
            </a:pPr>
            <a:endParaRPr lang="vi-VN" sz="2300" dirty="0"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00B050"/>
                </a:solidFill>
                <a:cs typeface="Times New Roman" panose="02020603050405020304" pitchFamily="18" charset="0"/>
              </a:rPr>
              <a:t>Thân  hàm</a:t>
            </a:r>
            <a:r>
              <a:rPr lang="vi-VN" sz="2300" dirty="0">
                <a:solidFill>
                  <a:srgbClr val="00B050"/>
                </a:solidFill>
                <a:cs typeface="Times New Roman" panose="02020603050405020304" pitchFamily="18" charset="0"/>
              </a:rPr>
              <a:t>:</a:t>
            </a:r>
            <a:r>
              <a:rPr lang="vi-VN" sz="2300" dirty="0" smtClean="0">
                <a:cs typeface="Times New Roman" panose="02020603050405020304" pitchFamily="18" charset="0"/>
              </a:rPr>
              <a:t> gồm các câu lệnh thực hiện chức năng của hàm.</a:t>
            </a:r>
            <a:endParaRPr lang="en-US" sz="25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032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2609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1" y="1201782"/>
            <a:ext cx="32744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87595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	</a:t>
            </a: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6988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	</a:t>
            </a: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2360023"/>
            <a:ext cx="4085094" cy="120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164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không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là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2360023"/>
            <a:ext cx="4085094" cy="120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010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không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là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2360023"/>
            <a:ext cx="4085094" cy="12073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519" y="4591996"/>
            <a:ext cx="4746171" cy="1246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8751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07177" y="191589"/>
            <a:ext cx="1048512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Làm sao để sử dụng được ?</a:t>
            </a:r>
          </a:p>
          <a:p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2147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07177" y="191589"/>
            <a:ext cx="1048512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Làm sao để sử dụng được ?</a:t>
            </a:r>
          </a:p>
          <a:p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32115" y="1761249"/>
            <a:ext cx="6017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+mj-lt"/>
              </a:rPr>
              <a:t>-	</a:t>
            </a:r>
            <a:r>
              <a:rPr lang="vi-VN" sz="3200" dirty="0" smtClean="0">
                <a:solidFill>
                  <a:srgbClr val="FFFF00"/>
                </a:solidFill>
                <a:latin typeface="+mj-lt"/>
              </a:rPr>
              <a:t>Lời gọi hàm </a:t>
            </a:r>
            <a:r>
              <a:rPr lang="vi-VN" sz="2400" dirty="0" smtClean="0"/>
              <a:t>(call Funstion)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7935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1528</TotalTime>
  <Words>824</Words>
  <Application>Microsoft Office PowerPoint</Application>
  <PresentationFormat>Widescreen</PresentationFormat>
  <Paragraphs>121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Times New Roman</vt:lpstr>
      <vt:lpstr>Tw Cen MT</vt:lpstr>
      <vt:lpstr>Trebuchet MS</vt:lpstr>
      <vt:lpstr>Circuit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Quốc Tuấn Nguyễn</dc:creator>
  <cp:lastModifiedBy>Quốc Tuấn Nguyễn</cp:lastModifiedBy>
  <cp:revision>25</cp:revision>
  <dcterms:created xsi:type="dcterms:W3CDTF">2019-05-27T14:14:39Z</dcterms:created>
  <dcterms:modified xsi:type="dcterms:W3CDTF">2019-05-28T15:43:18Z</dcterms:modified>
</cp:coreProperties>
</file>