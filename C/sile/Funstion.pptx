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55" r:id="rId1"/>
  </p:sldMasterIdLst>
  <p:sldIdLst>
    <p:sldId id="256" r:id="rId2"/>
    <p:sldId id="257" r:id="rId3"/>
    <p:sldId id="259" r:id="rId4"/>
    <p:sldId id="267" r:id="rId5"/>
    <p:sldId id="272" r:id="rId6"/>
    <p:sldId id="276" r:id="rId7"/>
    <p:sldId id="282" r:id="rId8"/>
    <p:sldId id="288" r:id="rId9"/>
    <p:sldId id="290" r:id="rId10"/>
    <p:sldId id="293" r:id="rId11"/>
    <p:sldId id="294" r:id="rId12"/>
    <p:sldId id="295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717" autoAdjust="0"/>
  </p:normalViewPr>
  <p:slideViewPr>
    <p:cSldViewPr snapToGrid="0">
      <p:cViewPr>
        <p:scale>
          <a:sx n="75" d="100"/>
          <a:sy n="75" d="100"/>
        </p:scale>
        <p:origin x="974" y="2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10614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0360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306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9002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08369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4615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81624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7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82656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5/31/2019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1467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5/31/2019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4280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5/31/2019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130481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5/31/2019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40196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5/31/2019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93606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5/31/2019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03529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50574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5657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5/31/2019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184652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  <p:sldLayoutId id="2147483867" r:id="rId12"/>
    <p:sldLayoutId id="2147483868" r:id="rId13"/>
    <p:sldLayoutId id="2147483869" r:id="rId14"/>
    <p:sldLayoutId id="2147483870" r:id="rId15"/>
    <p:sldLayoutId id="2147483871" r:id="rId16"/>
    <p:sldLayoutId id="214748387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00891" y="1541417"/>
            <a:ext cx="1123405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8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HÀM TRONG   C</a:t>
            </a:r>
            <a:endParaRPr lang="en-US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32617" y="6226629"/>
            <a:ext cx="5399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© 2019 Nguyễn Quốc Tuấn Designers</a:t>
            </a:r>
            <a:endParaRPr lang="en-US" sz="25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61058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280160" y="2638697"/>
            <a:ext cx="6818811" cy="38625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vi-VN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Hàm là gì ?</a:t>
            </a:r>
          </a:p>
          <a:p>
            <a:pPr marL="457200" indent="-457200">
              <a:buFontTx/>
              <a:buChar char="-"/>
            </a:pPr>
            <a:r>
              <a:rPr lang="vi-VN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vi-VN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ùng để làm gì ?</a:t>
            </a:r>
          </a:p>
          <a:p>
            <a:pPr marL="457200" indent="-457200">
              <a:buFontTx/>
              <a:buChar char="-"/>
            </a:pPr>
            <a:r>
              <a:rPr lang="vi-VN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Nó như thế nào ?</a:t>
            </a:r>
          </a:p>
          <a:p>
            <a:pPr marL="457200" indent="-457200">
              <a:buFontTx/>
              <a:buChar char="-"/>
            </a:pPr>
            <a:r>
              <a:rPr lang="vi-VN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loai hàm ?</a:t>
            </a:r>
          </a:p>
          <a:p>
            <a:pPr marL="457200" indent="-457200">
              <a:buFontTx/>
              <a:buChar char="-"/>
            </a:pPr>
            <a:r>
              <a:rPr lang="vi-VN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Làm sao để sử dụng được ?</a:t>
            </a:r>
          </a:p>
          <a:p>
            <a:pPr marL="457200" indent="-457200">
              <a:buFontTx/>
              <a:buChar char="-"/>
            </a:pPr>
            <a:r>
              <a:rPr lang="vi-VN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Ví dụ minh họa .</a:t>
            </a:r>
          </a:p>
          <a:p>
            <a:pPr marL="457200" indent="-457200">
              <a:buFontTx/>
              <a:buChar char="-"/>
            </a:pP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850607" y="542834"/>
            <a:ext cx="613083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</a:rPr>
              <a:t>HÀM   </a:t>
            </a:r>
            <a:r>
              <a:rPr lang="vi-VN" sz="4000" dirty="0" smtClean="0"/>
              <a:t>( Funstion )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24264674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040777" y="566057"/>
            <a:ext cx="372726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Hàm là gì ?</a:t>
            </a:r>
          </a:p>
          <a:p>
            <a:endParaRPr lang="en-US" sz="5500" dirty="0"/>
          </a:p>
        </p:txBody>
      </p:sp>
      <p:sp>
        <p:nvSpPr>
          <p:cNvPr id="7" name="TextBox 6"/>
          <p:cNvSpPr txBox="1"/>
          <p:nvPr/>
        </p:nvSpPr>
        <p:spPr>
          <a:xfrm>
            <a:off x="1079862" y="2002971"/>
            <a:ext cx="956201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/>
              <a:t>- Hàm là đoạn chương trình thực hiện trọn vẹn một công việc nhất định (cụ thể).</a:t>
            </a:r>
          </a:p>
          <a:p>
            <a:endParaRPr lang="vi-VN" sz="3200" dirty="0"/>
          </a:p>
          <a:p>
            <a:r>
              <a:rPr lang="vi-VN" sz="3200" dirty="0"/>
              <a:t>- Ví dụ: chức năng cộng, trừ, nhân, chia. Chức năng tìm số lớn nhất, nhỏ nhất, hoặc đổi chổ hai phần tử...</a:t>
            </a:r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92099439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dùng để làm </a:t>
            </a:r>
            <a:r>
              <a:rPr lang="vi-VN" sz="6000" dirty="0">
                <a:latin typeface="+mj-lt"/>
                <a:cs typeface="Times New Roman" panose="02020603050405020304" pitchFamily="18" charset="0"/>
              </a:rPr>
              <a:t>gì </a:t>
            </a:r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" y="2082905"/>
            <a:ext cx="1024998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vi-VN" sz="3200" dirty="0" smtClean="0">
                <a:cs typeface="Times New Roman" panose="02020603050405020304" pitchFamily="18" charset="0"/>
              </a:rPr>
              <a:t>Hàm giúp tách một chương trinh ra thành các đoạn code nhỏ có chức năng cụ thể, hoàn chỉnh.</a:t>
            </a:r>
          </a:p>
          <a:p>
            <a:pPr marL="457200" indent="-457200">
              <a:buFontTx/>
              <a:buChar char="-"/>
            </a:pPr>
            <a:endParaRPr lang="vi-VN" sz="3200" dirty="0" smtClean="0"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vi-VN" sz="3200" dirty="0" smtClean="0">
                <a:cs typeface="Times New Roman" panose="02020603050405020304" pitchFamily="18" charset="0"/>
              </a:rPr>
              <a:t>Dễ quản lý chương trinh.</a:t>
            </a:r>
          </a:p>
          <a:p>
            <a:pPr marL="457200" indent="-457200">
              <a:buFontTx/>
              <a:buChar char="-"/>
            </a:pPr>
            <a:endParaRPr lang="vi-VN" sz="3200" dirty="0" smtClean="0"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vi-VN" sz="3200" dirty="0">
                <a:cs typeface="Times New Roman" panose="02020603050405020304" pitchFamily="18" charset="0"/>
              </a:rPr>
              <a:t>Rõ ràng, tường minh từng chức năng.</a:t>
            </a:r>
          </a:p>
          <a:p>
            <a:pPr marL="457200" indent="-457200">
              <a:buFontTx/>
              <a:buChar char="-"/>
            </a:pPr>
            <a:endParaRPr lang="vi-VN" sz="3200" dirty="0"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vi-VN" sz="3200" dirty="0" smtClean="0">
                <a:cs typeface="Times New Roman" panose="02020603050405020304" pitchFamily="18" charset="0"/>
              </a:rPr>
              <a:t>Có thể tái sử dụng lại code.</a:t>
            </a:r>
          </a:p>
          <a:p>
            <a:pPr marL="457200" indent="-457200">
              <a:buFontTx/>
              <a:buChar char="-"/>
            </a:pPr>
            <a:endParaRPr lang="vi-VN" sz="3200" dirty="0" smtClean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534921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trông như thế nào 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61157" y="1800225"/>
            <a:ext cx="23855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3200" dirty="0" smtClean="0">
                <a:latin typeface="+mj-lt"/>
              </a:rPr>
              <a:t>Một số ví dụ:</a:t>
            </a:r>
            <a:endParaRPr lang="en-US" sz="3200" dirty="0">
              <a:latin typeface="+mj-lt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377" y="2673042"/>
            <a:ext cx="3048000" cy="141127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751" y="1990726"/>
            <a:ext cx="4199271" cy="219809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2606" y="4372361"/>
            <a:ext cx="5103223" cy="2158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42121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5555" y="269967"/>
            <a:ext cx="771579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5500" dirty="0" smtClean="0">
                <a:latin typeface="+mj-lt"/>
              </a:rPr>
              <a:t>Khai báo, Định Nghĩa</a:t>
            </a:r>
            <a:endParaRPr lang="en-US" sz="5500" dirty="0">
              <a:latin typeface="+mj-l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05394" y="1645921"/>
            <a:ext cx="11303725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vi-VN" sz="2800" dirty="0" smtClean="0"/>
              <a:t>Ta phân biệt hai khái niệm: khai báo là khai báo nguyên mẫu. Còn định nghĩa là viết nội dung cụ thể của hàm.</a:t>
            </a:r>
          </a:p>
          <a:p>
            <a:pPr marL="457200" indent="-457200">
              <a:buFontTx/>
              <a:buChar char="-"/>
            </a:pPr>
            <a:endParaRPr lang="vi-VN" sz="2800" dirty="0" smtClean="0">
              <a:latin typeface="+mj-lt"/>
            </a:endParaRPr>
          </a:p>
          <a:p>
            <a:pPr marL="457200" indent="-457200">
              <a:buFontTx/>
              <a:buChar char="-"/>
            </a:pPr>
            <a:r>
              <a:rPr lang="vi-VN" sz="2800" dirty="0" smtClean="0"/>
              <a:t>Khai báo: </a:t>
            </a:r>
          </a:p>
          <a:p>
            <a:pPr lvl="2"/>
            <a:r>
              <a:rPr lang="vi-VN" sz="2400" dirty="0" smtClean="0">
                <a:solidFill>
                  <a:srgbClr val="FFFF00"/>
                </a:solidFill>
              </a:rPr>
              <a:t>Kiểu_trả_về</a:t>
            </a:r>
            <a:r>
              <a:rPr lang="vi-VN" sz="2400" dirty="0" smtClean="0"/>
              <a:t>  </a:t>
            </a:r>
            <a:r>
              <a:rPr lang="vi-VN" sz="2400" dirty="0">
                <a:solidFill>
                  <a:schemeClr val="accent2">
                    <a:lumMod val="75000"/>
                  </a:schemeClr>
                </a:solidFill>
              </a:rPr>
              <a:t>t</a:t>
            </a:r>
            <a:r>
              <a:rPr lang="vi-VN" sz="2400" dirty="0" smtClean="0">
                <a:solidFill>
                  <a:schemeClr val="accent2">
                    <a:lumMod val="75000"/>
                  </a:schemeClr>
                </a:solidFill>
              </a:rPr>
              <a:t>ên_hàm</a:t>
            </a:r>
            <a:r>
              <a:rPr lang="vi-VN" sz="2400" dirty="0" smtClean="0"/>
              <a:t>( khai báo </a:t>
            </a:r>
            <a:r>
              <a:rPr lang="vi-VN" sz="2400" dirty="0" smtClean="0">
                <a:solidFill>
                  <a:schemeClr val="accent6">
                    <a:lumMod val="75000"/>
                  </a:schemeClr>
                </a:solidFill>
              </a:rPr>
              <a:t>danh_sách_tham_số</a:t>
            </a:r>
            <a:r>
              <a:rPr lang="vi-VN" sz="2400" dirty="0" smtClean="0"/>
              <a:t> ) ;</a:t>
            </a:r>
          </a:p>
          <a:p>
            <a:pPr marL="457200" indent="-457200">
              <a:buFontTx/>
              <a:buChar char="-"/>
            </a:pPr>
            <a:endParaRPr lang="vi-VN" sz="2400" dirty="0"/>
          </a:p>
          <a:p>
            <a:pPr marL="457200" indent="-457200">
              <a:buFontTx/>
              <a:buChar char="-"/>
            </a:pPr>
            <a:r>
              <a:rPr lang="vi-VN" sz="2800" dirty="0" smtClean="0"/>
              <a:t>Định nghĩa: </a:t>
            </a:r>
          </a:p>
          <a:p>
            <a:pPr lvl="1"/>
            <a:r>
              <a:rPr lang="vi-VN" sz="2400" dirty="0" smtClean="0">
                <a:solidFill>
                  <a:srgbClr val="FFFF00"/>
                </a:solidFill>
              </a:rPr>
              <a:t>	Kiểu_trả_về</a:t>
            </a:r>
            <a:r>
              <a:rPr lang="vi-VN" sz="2400" dirty="0" smtClean="0"/>
              <a:t>  </a:t>
            </a:r>
            <a:r>
              <a:rPr lang="vi-VN" sz="2400" dirty="0">
                <a:solidFill>
                  <a:schemeClr val="accent2">
                    <a:lumMod val="75000"/>
                  </a:schemeClr>
                </a:solidFill>
              </a:rPr>
              <a:t>tên_hàm</a:t>
            </a:r>
            <a:r>
              <a:rPr lang="vi-VN" sz="2400" dirty="0" smtClean="0"/>
              <a:t>( khai báo </a:t>
            </a:r>
            <a:r>
              <a:rPr lang="vi-VN" sz="2400" dirty="0">
                <a:solidFill>
                  <a:schemeClr val="accent6">
                    <a:lumMod val="75000"/>
                  </a:schemeClr>
                </a:solidFill>
              </a:rPr>
              <a:t>danh_sách_tham_số</a:t>
            </a:r>
            <a:r>
              <a:rPr lang="vi-VN" sz="2400" dirty="0"/>
              <a:t> </a:t>
            </a:r>
            <a:r>
              <a:rPr lang="vi-VN" sz="2800" dirty="0" smtClean="0"/>
              <a:t>){</a:t>
            </a:r>
          </a:p>
          <a:p>
            <a:pPr lvl="1"/>
            <a:r>
              <a:rPr lang="vi-VN" sz="2800" dirty="0">
                <a:latin typeface="+mj-lt"/>
              </a:rPr>
              <a:t>	</a:t>
            </a:r>
            <a:r>
              <a:rPr lang="vi-VN" sz="2800" dirty="0" smtClean="0">
                <a:latin typeface="+mj-lt"/>
              </a:rPr>
              <a:t>	</a:t>
            </a:r>
            <a:r>
              <a:rPr lang="vi-VN" sz="2400" dirty="0" smtClean="0">
                <a:solidFill>
                  <a:schemeClr val="accent2">
                    <a:lumMod val="75000"/>
                  </a:schemeClr>
                </a:solidFill>
              </a:rPr>
              <a:t>// khối lệnh</a:t>
            </a:r>
          </a:p>
          <a:p>
            <a:pPr lvl="1"/>
            <a:r>
              <a:rPr lang="vi-VN" sz="2400" dirty="0">
                <a:solidFill>
                  <a:schemeClr val="accent2">
                    <a:lumMod val="75000"/>
                  </a:schemeClr>
                </a:solidFill>
              </a:rPr>
              <a:t>	</a:t>
            </a:r>
            <a:r>
              <a:rPr lang="vi-VN" sz="2400" dirty="0" smtClean="0">
                <a:solidFill>
                  <a:schemeClr val="accent2">
                    <a:lumMod val="75000"/>
                  </a:schemeClr>
                </a:solidFill>
              </a:rPr>
              <a:t>	</a:t>
            </a:r>
            <a:r>
              <a:rPr lang="vi-VN" sz="2400" dirty="0" smtClean="0">
                <a:solidFill>
                  <a:schemeClr val="accent1">
                    <a:lumMod val="75000"/>
                  </a:schemeClr>
                </a:solidFill>
              </a:rPr>
              <a:t>return </a:t>
            </a:r>
            <a:r>
              <a:rPr lang="vi-VN" sz="2400" dirty="0" smtClean="0">
                <a:solidFill>
                  <a:srgbClr val="FFFF00"/>
                </a:solidFill>
              </a:rPr>
              <a:t>Giá_trị </a:t>
            </a:r>
            <a:r>
              <a:rPr lang="vi-VN" sz="2400" dirty="0" smtClean="0"/>
              <a:t>; </a:t>
            </a:r>
            <a:r>
              <a:rPr lang="vi-VN" sz="2400" dirty="0" smtClean="0">
                <a:solidFill>
                  <a:srgbClr val="00B0F0"/>
                </a:solidFill>
              </a:rPr>
              <a:t>// nếu kiểu_trả_về là void thì không cần câu lệnh này	</a:t>
            </a:r>
          </a:p>
          <a:p>
            <a:pPr lvl="1"/>
            <a:r>
              <a:rPr lang="vi-VN" sz="2400" dirty="0" smtClean="0">
                <a:latin typeface="+mj-lt"/>
              </a:rPr>
              <a:t>	}</a:t>
            </a:r>
            <a:endParaRPr lang="vi-VN" sz="2800" dirty="0" smtClean="0"/>
          </a:p>
          <a:p>
            <a:pPr marL="457200" indent="-457200">
              <a:buFontTx/>
              <a:buChar char="-"/>
            </a:pPr>
            <a:endParaRPr lang="vi-VN" sz="2400" dirty="0" smtClean="0"/>
          </a:p>
        </p:txBody>
      </p:sp>
    </p:spTree>
    <p:extLst>
      <p:ext uri="{BB962C8B-B14F-4D97-AF65-F5344CB8AC3E}">
        <p14:creationId xmlns:p14="http://schemas.microsoft.com/office/powerpoint/2010/main" val="428298435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3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5555" y="269967"/>
            <a:ext cx="771579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5500" dirty="0" smtClean="0">
                <a:latin typeface="+mj-lt"/>
              </a:rPr>
              <a:t>Khai báo, Định Nghĩa</a:t>
            </a:r>
            <a:endParaRPr lang="en-US" sz="5500" dirty="0">
              <a:latin typeface="+mj-l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19" y="1489165"/>
            <a:ext cx="1063316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dirty="0" smtClean="0">
                <a:cs typeface="Times New Roman" panose="02020603050405020304" pitchFamily="18" charset="0"/>
              </a:rPr>
              <a:t>Trong đó:</a:t>
            </a:r>
          </a:p>
          <a:p>
            <a:pPr marL="342900" indent="-342900">
              <a:buFontTx/>
              <a:buChar char="-"/>
            </a:pPr>
            <a:r>
              <a:rPr lang="vi-VN" sz="2800" dirty="0" smtClean="0">
                <a:solidFill>
                  <a:srgbClr val="FFFF00"/>
                </a:solidFill>
              </a:rPr>
              <a:t>Kiểu_trả_về:  </a:t>
            </a:r>
            <a:r>
              <a:rPr lang="vi-VN" sz="2800" dirty="0" smtClean="0"/>
              <a:t>là kiểu hợp lệ trong ngôn ngữ C, thường là void, kiểu cơ bản ( nguyên thủy ), kiểu con trỏ, ... </a:t>
            </a:r>
          </a:p>
          <a:p>
            <a:pPr marL="342900" indent="-342900">
              <a:buFontTx/>
              <a:buChar char="-"/>
            </a:pPr>
            <a:endParaRPr lang="vi-VN" sz="2800" dirty="0" smtClean="0"/>
          </a:p>
          <a:p>
            <a:pPr marL="342900" indent="-342900">
              <a:buFontTx/>
              <a:buChar char="-"/>
            </a:pPr>
            <a:r>
              <a:rPr lang="vi-VN" sz="2800" dirty="0" smtClean="0">
                <a:solidFill>
                  <a:srgbClr val="00B0F0"/>
                </a:solidFill>
                <a:cs typeface="Times New Roman" panose="02020603050405020304" pitchFamily="18" charset="0"/>
              </a:rPr>
              <a:t>Tên_hàm:</a:t>
            </a:r>
            <a:r>
              <a:rPr lang="vi-VN" sz="2800" dirty="0" smtClean="0">
                <a:solidFill>
                  <a:srgbClr val="FFFF00"/>
                </a:solidFill>
                <a:cs typeface="Times New Roman" panose="02020603050405020304" pitchFamily="18" charset="0"/>
              </a:rPr>
              <a:t> </a:t>
            </a:r>
            <a:r>
              <a:rPr lang="vi-VN" sz="2800" dirty="0" smtClean="0">
                <a:cs typeface="Times New Roman" panose="02020603050405020304" pitchFamily="18" charset="0"/>
              </a:rPr>
              <a:t>do người dùng tự đặt, liên quan đến chứ năng của hàm, tránh các keyword, theo quy tắc CamelCase.</a:t>
            </a:r>
          </a:p>
          <a:p>
            <a:pPr marL="342900" indent="-342900">
              <a:buFontTx/>
              <a:buChar char="-"/>
            </a:pPr>
            <a:endParaRPr lang="vi-VN" sz="2800" dirty="0" smtClean="0"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800" dirty="0" smtClean="0">
                <a:solidFill>
                  <a:schemeClr val="accent6">
                    <a:lumMod val="75000"/>
                  </a:schemeClr>
                </a:solidFill>
                <a:cs typeface="Times New Roman" panose="02020603050405020304" pitchFamily="18" charset="0"/>
              </a:rPr>
              <a:t>Danh_sách_tham_số:</a:t>
            </a:r>
            <a:r>
              <a:rPr lang="vi-VN" sz="2800" dirty="0">
                <a:solidFill>
                  <a:srgbClr val="FFFF00"/>
                </a:solidFill>
                <a:cs typeface="Times New Roman" panose="02020603050405020304" pitchFamily="18" charset="0"/>
              </a:rPr>
              <a:t> </a:t>
            </a:r>
            <a:r>
              <a:rPr lang="vi-VN" sz="2800" dirty="0" smtClean="0">
                <a:cs typeface="Times New Roman" panose="02020603050405020304" pitchFamily="18" charset="0"/>
              </a:rPr>
              <a:t>không bắt buộc, các </a:t>
            </a:r>
            <a:r>
              <a:rPr lang="vi-VN" sz="2800" dirty="0" smtClean="0">
                <a:solidFill>
                  <a:schemeClr val="accent6">
                    <a:lumMod val="75000"/>
                  </a:schemeClr>
                </a:solidFill>
                <a:cs typeface="Times New Roman" panose="02020603050405020304" pitchFamily="18" charset="0"/>
              </a:rPr>
              <a:t>tham_số</a:t>
            </a:r>
            <a:r>
              <a:rPr lang="vi-VN" sz="2800" dirty="0" smtClean="0">
                <a:cs typeface="Times New Roman" panose="02020603050405020304" pitchFamily="18" charset="0"/>
              </a:rPr>
              <a:t> có thể có hoặc không tùy thuộc vào mục đích sử dụng của hàm đó.</a:t>
            </a:r>
          </a:p>
          <a:p>
            <a:pPr marL="342900" indent="-342900">
              <a:buFontTx/>
              <a:buChar char="-"/>
            </a:pPr>
            <a:endParaRPr lang="vi-VN" sz="2800" dirty="0"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800" dirty="0" smtClean="0">
                <a:solidFill>
                  <a:srgbClr val="00B050"/>
                </a:solidFill>
                <a:cs typeface="Times New Roman" panose="02020603050405020304" pitchFamily="18" charset="0"/>
              </a:rPr>
              <a:t>Thân  hàm</a:t>
            </a:r>
            <a:r>
              <a:rPr lang="vi-VN" sz="2800" dirty="0">
                <a:solidFill>
                  <a:srgbClr val="00B050"/>
                </a:solidFill>
                <a:cs typeface="Times New Roman" panose="02020603050405020304" pitchFamily="18" charset="0"/>
              </a:rPr>
              <a:t>:</a:t>
            </a:r>
            <a:r>
              <a:rPr lang="vi-VN" sz="2800" dirty="0" smtClean="0">
                <a:cs typeface="Times New Roman" panose="02020603050405020304" pitchFamily="18" charset="0"/>
              </a:rPr>
              <a:t> gồm các câu lệnh thực hiện chức năng của hàm.</a:t>
            </a:r>
            <a:endParaRPr lang="en-US" sz="28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103275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3393" y="104503"/>
            <a:ext cx="5521235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hàm</a:t>
            </a:r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58240" y="1201782"/>
            <a:ext cx="10093233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thành 2 loại:</a:t>
            </a:r>
          </a:p>
          <a:p>
            <a:pPr marL="457200" indent="-457200">
              <a:buFontTx/>
              <a:buChar char="-"/>
            </a:pPr>
            <a:r>
              <a:rPr lang="vi-VN" sz="2800" dirty="0" smtClean="0">
                <a:solidFill>
                  <a:srgbClr val="FFFF00"/>
                </a:solidFill>
                <a:cs typeface="Times New Roman" panose="02020603050405020304" pitchFamily="18" charset="0"/>
              </a:rPr>
              <a:t>Hàm trả về: </a:t>
            </a:r>
            <a:r>
              <a:rPr lang="vi-VN" sz="2800" dirty="0" smtClean="0">
                <a:cs typeface="Times New Roman" panose="02020603050405020304" pitchFamily="18" charset="0"/>
              </a:rPr>
              <a:t>có kiểu trả về khác </a:t>
            </a:r>
            <a:r>
              <a:rPr lang="vi-VN" sz="2800" dirty="0" smtClean="0">
                <a:solidFill>
                  <a:srgbClr val="00B0F0"/>
                </a:solidFill>
                <a:cs typeface="Times New Roman" panose="02020603050405020304" pitchFamily="18" charset="0"/>
              </a:rPr>
              <a:t>void</a:t>
            </a:r>
          </a:p>
          <a:p>
            <a:pPr marL="457200" indent="-457200">
              <a:buFontTx/>
              <a:buChar char="-"/>
            </a:pPr>
            <a:endParaRPr lang="vi-V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vi-VN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vi-V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vi-VN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vi-VN" sz="2800" dirty="0" smtClean="0">
                <a:solidFill>
                  <a:srgbClr val="FFFF00"/>
                </a:solidFill>
                <a:cs typeface="Times New Roman" panose="02020603050405020304" pitchFamily="18" charset="0"/>
              </a:rPr>
              <a:t>Hàm không trả về: </a:t>
            </a:r>
            <a:r>
              <a:rPr lang="vi-VN" sz="2800" dirty="0" smtClean="0">
                <a:cs typeface="Times New Roman" panose="02020603050405020304" pitchFamily="18" charset="0"/>
              </a:rPr>
              <a:t>có kiểu trả về là </a:t>
            </a:r>
            <a:r>
              <a:rPr lang="vi-VN" sz="2800" dirty="0" smtClean="0">
                <a:solidFill>
                  <a:srgbClr val="00B0F0"/>
                </a:solidFill>
                <a:cs typeface="Times New Roman" panose="02020603050405020304" pitchFamily="18" charset="0"/>
              </a:rPr>
              <a:t>void</a:t>
            </a:r>
            <a:endParaRPr lang="en-US" sz="3200" dirty="0">
              <a:solidFill>
                <a:srgbClr val="00B0F0"/>
              </a:solidFill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520" y="2451463"/>
            <a:ext cx="4085094" cy="120735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520" y="4612316"/>
            <a:ext cx="4746171" cy="1246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87517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9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07177" y="191589"/>
            <a:ext cx="10485120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Làm sao để sử dụng được ?</a:t>
            </a:r>
          </a:p>
          <a:p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32115" y="1761249"/>
            <a:ext cx="6017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>
                <a:latin typeface="+mj-lt"/>
              </a:rPr>
              <a:t>-	</a:t>
            </a:r>
            <a:r>
              <a:rPr lang="vi-VN" sz="3200" dirty="0" smtClean="0">
                <a:solidFill>
                  <a:srgbClr val="FFFF00"/>
                </a:solidFill>
              </a:rPr>
              <a:t>Lời gọi hàm </a:t>
            </a:r>
            <a:r>
              <a:rPr lang="vi-VN" sz="2400" dirty="0" smtClean="0"/>
              <a:t>(call Funstion)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79359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5051" y="113212"/>
            <a:ext cx="601762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Ví dụ minh họa </a:t>
            </a:r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031" y="1423686"/>
            <a:ext cx="11751774" cy="534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28328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5051" y="113212"/>
            <a:ext cx="601762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Ví dụ minh họa </a:t>
            </a:r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397" y="1183413"/>
            <a:ext cx="9439275" cy="271462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396" y="4198755"/>
            <a:ext cx="9439275" cy="2257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95023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389124" y="1952744"/>
            <a:ext cx="7614585" cy="116955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vi-VN" sz="7000" dirty="0">
                <a:latin typeface="+mj-lt"/>
                <a:cs typeface="Arial" panose="020B0604020202020204" pitchFamily="34" charset="0"/>
              </a:rPr>
              <a:t>Thanks for </a:t>
            </a:r>
            <a:r>
              <a:rPr lang="vi-VN" sz="7000" dirty="0" smtClean="0">
                <a:latin typeface="+mj-lt"/>
                <a:cs typeface="Arial" panose="020B0604020202020204" pitchFamily="34" charset="0"/>
              </a:rPr>
              <a:t>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1588" y="5530185"/>
            <a:ext cx="92833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000" dirty="0" smtClean="0"/>
              <a:t>Email: </a:t>
            </a:r>
            <a:r>
              <a:rPr lang="vi-VN" sz="2000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linhty1802@gmail.com</a:t>
            </a:r>
          </a:p>
          <a:p>
            <a:r>
              <a:rPr lang="vi-VN" sz="2000" dirty="0" smtClean="0"/>
              <a:t>GitHub: </a:t>
            </a:r>
            <a:r>
              <a:rPr lang="en-US" sz="2000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https</a:t>
            </a:r>
            <a:r>
              <a:rPr lang="en-US" sz="2000" dirty="0">
                <a:solidFill>
                  <a:schemeClr val="bg2">
                    <a:lumMod val="40000"/>
                    <a:lumOff val="60000"/>
                  </a:schemeClr>
                </a:solidFill>
              </a:rPr>
              <a:t>://</a:t>
            </a:r>
            <a:r>
              <a:rPr lang="en-US" sz="2000" dirty="0" smtClean="0">
                <a:solidFill>
                  <a:schemeClr val="bg2">
                    <a:lumMod val="40000"/>
                    <a:lumOff val="60000"/>
                  </a:schemeClr>
                </a:solidFill>
              </a:rPr>
              <a:t>github.com/quocTuan02/demo/tree/master/C</a:t>
            </a:r>
            <a:endParaRPr lang="en-US" sz="2000" dirty="0">
              <a:solidFill>
                <a:schemeClr val="bg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06541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2053</TotalTime>
  <Words>358</Words>
  <Application>Microsoft Office PowerPoint</Application>
  <PresentationFormat>Widescreen</PresentationFormat>
  <Paragraphs>58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Century Gothic</vt:lpstr>
      <vt:lpstr>Times New Roman</vt:lpstr>
      <vt:lpstr>Wingdings 3</vt:lpstr>
      <vt:lpstr>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Quốc Tuấn Nguyễn</dc:creator>
  <cp:lastModifiedBy>Quốc Tuấn Nguyễn</cp:lastModifiedBy>
  <cp:revision>38</cp:revision>
  <dcterms:created xsi:type="dcterms:W3CDTF">2019-05-27T14:14:39Z</dcterms:created>
  <dcterms:modified xsi:type="dcterms:W3CDTF">2019-05-31T14:05:53Z</dcterms:modified>
</cp:coreProperties>
</file>