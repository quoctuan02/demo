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55" r:id="rId1"/>
  </p:sldMasterIdLst>
  <p:sldIdLst>
    <p:sldId id="256" r:id="rId2"/>
    <p:sldId id="257" r:id="rId3"/>
    <p:sldId id="262" r:id="rId4"/>
    <p:sldId id="258" r:id="rId5"/>
    <p:sldId id="259" r:id="rId6"/>
    <p:sldId id="263" r:id="rId7"/>
    <p:sldId id="266" r:id="rId8"/>
    <p:sldId id="264" r:id="rId9"/>
    <p:sldId id="265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81" r:id="rId21"/>
    <p:sldId id="279" r:id="rId22"/>
    <p:sldId id="280" r:id="rId23"/>
    <p:sldId id="282" r:id="rId24"/>
    <p:sldId id="283" r:id="rId25"/>
    <p:sldId id="284" r:id="rId26"/>
    <p:sldId id="285" r:id="rId27"/>
    <p:sldId id="286" r:id="rId28"/>
    <p:sldId id="287" r:id="rId29"/>
    <p:sldId id="288" r:id="rId30"/>
    <p:sldId id="289" r:id="rId31"/>
    <p:sldId id="290" r:id="rId32"/>
    <p:sldId id="291" r:id="rId33"/>
    <p:sldId id="292" r:id="rId3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1330" y="53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5/31/2019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010614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5/31/2019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03608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5/31/2019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8306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5/31/2019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90029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5/31/2019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08369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5/31/2019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46159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5/31/2019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81624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5/31/2019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7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5/31/2019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82656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5/31/2019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71467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5/31/2019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34280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5/31/2019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130481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5/31/2019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40196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5/31/2019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93606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pPr/>
              <a:t>5/31/2019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03529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5/31/2019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505745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5/31/2019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5657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8A87A34-81AB-432B-8DAE-1953F412C126}" type="datetimeFigureOut">
              <a:rPr lang="en-US" smtClean="0"/>
              <a:pPr/>
              <a:t>5/31/2019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22F896-40B5-4ADD-8801-0D06FADFA09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184652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856" r:id="rId1"/>
    <p:sldLayoutId id="2147483857" r:id="rId2"/>
    <p:sldLayoutId id="2147483858" r:id="rId3"/>
    <p:sldLayoutId id="2147483859" r:id="rId4"/>
    <p:sldLayoutId id="2147483860" r:id="rId5"/>
    <p:sldLayoutId id="2147483861" r:id="rId6"/>
    <p:sldLayoutId id="2147483862" r:id="rId7"/>
    <p:sldLayoutId id="2147483863" r:id="rId8"/>
    <p:sldLayoutId id="2147483864" r:id="rId9"/>
    <p:sldLayoutId id="2147483865" r:id="rId10"/>
    <p:sldLayoutId id="2147483866" r:id="rId11"/>
    <p:sldLayoutId id="2147483867" r:id="rId12"/>
    <p:sldLayoutId id="2147483868" r:id="rId13"/>
    <p:sldLayoutId id="2147483869" r:id="rId14"/>
    <p:sldLayoutId id="2147483870" r:id="rId15"/>
    <p:sldLayoutId id="2147483871" r:id="rId16"/>
    <p:sldLayoutId id="2147483872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emf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emf"/><Relationship Id="rId2" Type="http://schemas.openxmlformats.org/officeDocument/2006/relationships/image" Target="../media/image9.emf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00891" y="1541417"/>
            <a:ext cx="1123405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8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HÀM TRONG   C</a:t>
            </a:r>
            <a:endParaRPr lang="en-US" sz="8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32617" y="6226629"/>
            <a:ext cx="53993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© 2019 Nguyễn Quốc Tuấn Designers</a:t>
            </a:r>
            <a:endParaRPr lang="en-US" sz="25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561058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280160" y="2638697"/>
            <a:ext cx="6818811" cy="38625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vi-VN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Hàm là gì ?</a:t>
            </a:r>
          </a:p>
          <a:p>
            <a:pPr marL="457200" indent="-457200">
              <a:buFontTx/>
              <a:buChar char="-"/>
            </a:pPr>
            <a:r>
              <a:rPr lang="vi-VN" sz="3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</a:t>
            </a:r>
            <a:r>
              <a:rPr lang="vi-VN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ùng để làm gì ?</a:t>
            </a:r>
          </a:p>
          <a:p>
            <a:pPr marL="457200" indent="-457200">
              <a:buFontTx/>
              <a:buChar char="-"/>
            </a:pPr>
            <a:r>
              <a:rPr lang="vi-VN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Nó như thế nào ?</a:t>
            </a:r>
          </a:p>
          <a:p>
            <a:pPr marL="457200" indent="-457200">
              <a:buFontTx/>
              <a:buChar char="-"/>
            </a:pPr>
            <a:r>
              <a:rPr lang="vi-VN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Phân loai hàm ?</a:t>
            </a:r>
          </a:p>
          <a:p>
            <a:pPr marL="457200" indent="-457200">
              <a:buFontTx/>
              <a:buChar char="-"/>
            </a:pPr>
            <a:r>
              <a:rPr lang="vi-VN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Làm sao để sử dụng được ?</a:t>
            </a:r>
          </a:p>
          <a:p>
            <a:pPr marL="457200" indent="-457200">
              <a:buFontTx/>
              <a:buChar char="-"/>
            </a:pPr>
            <a:r>
              <a:rPr lang="vi-VN" sz="3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Ví dụ minh họa .</a:t>
            </a:r>
          </a:p>
          <a:p>
            <a:pPr marL="457200" indent="-457200">
              <a:buFontTx/>
              <a:buChar char="-"/>
            </a:pPr>
            <a:endParaRPr lang="en-US" sz="3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708367" y="461554"/>
            <a:ext cx="613083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6000" dirty="0" smtClean="0">
                <a:latin typeface="+mj-lt"/>
              </a:rPr>
              <a:t>HÀM   </a:t>
            </a:r>
            <a:r>
              <a:rPr lang="vi-VN" sz="4000" dirty="0" smtClean="0"/>
              <a:t>( Funstion )</a:t>
            </a:r>
            <a:endParaRPr lang="en-US" sz="4000" dirty="0"/>
          </a:p>
        </p:txBody>
      </p:sp>
    </p:spTree>
    <p:extLst>
      <p:ext uri="{BB962C8B-B14F-4D97-AF65-F5344CB8AC3E}">
        <p14:creationId xmlns:p14="http://schemas.microsoft.com/office/powerpoint/2010/main" val="32426467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040777" y="566057"/>
            <a:ext cx="3727269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Hàm là gì ?</a:t>
            </a:r>
          </a:p>
          <a:p>
            <a:endParaRPr lang="en-US" sz="5500" dirty="0"/>
          </a:p>
        </p:txBody>
      </p:sp>
    </p:spTree>
    <p:extLst>
      <p:ext uri="{BB962C8B-B14F-4D97-AF65-F5344CB8AC3E}">
        <p14:creationId xmlns:p14="http://schemas.microsoft.com/office/powerpoint/2010/main" val="36831892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040777" y="566057"/>
            <a:ext cx="3727269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Hàm là gì ?</a:t>
            </a:r>
          </a:p>
          <a:p>
            <a:endParaRPr lang="en-US" sz="5500" dirty="0"/>
          </a:p>
        </p:txBody>
      </p:sp>
      <p:sp>
        <p:nvSpPr>
          <p:cNvPr id="7" name="TextBox 6"/>
          <p:cNvSpPr txBox="1"/>
          <p:nvPr/>
        </p:nvSpPr>
        <p:spPr>
          <a:xfrm>
            <a:off x="1079862" y="2002971"/>
            <a:ext cx="956201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200" dirty="0" smtClean="0"/>
              <a:t>- Hàm là đoạn chương trình thực hiện trọn vẹn một công việc nhất định (cụ thể).</a:t>
            </a:r>
          </a:p>
          <a:p>
            <a:endParaRPr lang="vi-VN" sz="3200" dirty="0"/>
          </a:p>
          <a:p>
            <a:r>
              <a:rPr lang="vi-VN" sz="3200" dirty="0" smtClean="0"/>
              <a:t> 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882835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040777" y="566057"/>
            <a:ext cx="3727269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55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Hàm là gì ?</a:t>
            </a:r>
          </a:p>
          <a:p>
            <a:endParaRPr lang="en-US" sz="5500" dirty="0"/>
          </a:p>
        </p:txBody>
      </p:sp>
      <p:sp>
        <p:nvSpPr>
          <p:cNvPr id="7" name="TextBox 6"/>
          <p:cNvSpPr txBox="1"/>
          <p:nvPr/>
        </p:nvSpPr>
        <p:spPr>
          <a:xfrm>
            <a:off x="1079862" y="2002971"/>
            <a:ext cx="9562011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200" dirty="0" smtClean="0"/>
              <a:t>- Hàm là đoạn chương trình thực hiện trọn vẹn một công việc nhất định (cụ thể).</a:t>
            </a:r>
          </a:p>
          <a:p>
            <a:endParaRPr lang="vi-VN" sz="3200" dirty="0"/>
          </a:p>
          <a:p>
            <a:r>
              <a:rPr lang="vi-VN" sz="3200" dirty="0"/>
              <a:t>- Ví dụ: chức năng cộng, trừ, nhân, chia. Chức năng tìm số lớn nhất, nhỏ nhất, hoặc đổi chổ hai phần tử...</a:t>
            </a:r>
          </a:p>
          <a:p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9209943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57625" y="1609725"/>
            <a:ext cx="3019425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62349" y="344210"/>
            <a:ext cx="818197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6000" dirty="0" smtClean="0">
                <a:latin typeface="+mj-lt"/>
                <a:cs typeface="Times New Roman" panose="02020603050405020304" pitchFamily="18" charset="0"/>
              </a:rPr>
              <a:t>Hàm dùng để làm </a:t>
            </a:r>
            <a:r>
              <a:rPr lang="vi-VN" sz="6000" dirty="0">
                <a:latin typeface="+mj-lt"/>
                <a:cs typeface="Times New Roman" panose="02020603050405020304" pitchFamily="18" charset="0"/>
              </a:rPr>
              <a:t>gì </a:t>
            </a:r>
            <a:r>
              <a:rPr lang="vi-VN" sz="6000" dirty="0" smtClean="0">
                <a:latin typeface="+mj-lt"/>
                <a:cs typeface="Times New Roman" panose="02020603050405020304" pitchFamily="18" charset="0"/>
              </a:rPr>
              <a:t>?</a:t>
            </a:r>
            <a:endParaRPr lang="en-US" sz="6000" dirty="0">
              <a:latin typeface="+mj-lt"/>
            </a:endParaRPr>
          </a:p>
          <a:p>
            <a:endParaRPr lang="en-US" sz="6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779807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57625" y="1609725"/>
            <a:ext cx="3019425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62349" y="344210"/>
            <a:ext cx="818197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6000" dirty="0" smtClean="0">
                <a:latin typeface="+mj-lt"/>
                <a:cs typeface="Times New Roman" panose="02020603050405020304" pitchFamily="18" charset="0"/>
              </a:rPr>
              <a:t>Hàm dùng để làm </a:t>
            </a:r>
            <a:r>
              <a:rPr lang="vi-VN" sz="6000" dirty="0">
                <a:latin typeface="+mj-lt"/>
                <a:cs typeface="Times New Roman" panose="02020603050405020304" pitchFamily="18" charset="0"/>
              </a:rPr>
              <a:t>gì </a:t>
            </a:r>
            <a:r>
              <a:rPr lang="vi-VN" sz="6000" dirty="0" smtClean="0">
                <a:latin typeface="+mj-lt"/>
                <a:cs typeface="Times New Roman" panose="02020603050405020304" pitchFamily="18" charset="0"/>
              </a:rPr>
              <a:t>?</a:t>
            </a:r>
            <a:endParaRPr lang="en-US" sz="6000" dirty="0">
              <a:latin typeface="+mj-lt"/>
            </a:endParaRPr>
          </a:p>
          <a:p>
            <a:endParaRPr lang="en-US" sz="6000" dirty="0">
              <a:latin typeface="+mj-l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97280" y="2082905"/>
            <a:ext cx="1024998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 	Hàm giúp tách một chương trinh ra thành các đoạn code 	nhỏ có chức năng cụ thể, hoàn chỉnh.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030931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57625" y="1609725"/>
            <a:ext cx="3019425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62349" y="344210"/>
            <a:ext cx="818197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6000" dirty="0" smtClean="0">
                <a:latin typeface="+mj-lt"/>
                <a:cs typeface="Times New Roman" panose="02020603050405020304" pitchFamily="18" charset="0"/>
              </a:rPr>
              <a:t>Hàm dùng để làm </a:t>
            </a:r>
            <a:r>
              <a:rPr lang="vi-VN" sz="6000" dirty="0">
                <a:latin typeface="+mj-lt"/>
                <a:cs typeface="Times New Roman" panose="02020603050405020304" pitchFamily="18" charset="0"/>
              </a:rPr>
              <a:t>gì </a:t>
            </a:r>
            <a:r>
              <a:rPr lang="vi-VN" sz="6000" dirty="0" smtClean="0">
                <a:latin typeface="+mj-lt"/>
                <a:cs typeface="Times New Roman" panose="02020603050405020304" pitchFamily="18" charset="0"/>
              </a:rPr>
              <a:t>?</a:t>
            </a:r>
            <a:endParaRPr lang="en-US" sz="6000" dirty="0">
              <a:latin typeface="+mj-lt"/>
            </a:endParaRPr>
          </a:p>
          <a:p>
            <a:endParaRPr lang="en-US" sz="6000" dirty="0">
              <a:latin typeface="+mj-l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97280" y="2082905"/>
            <a:ext cx="10249989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vi-VN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Hàm giúp tách một chương trinh ra thành các đoạn code nhỏ có chức năng cụ thể, hoàn chỉnh.</a:t>
            </a:r>
          </a:p>
          <a:p>
            <a:pPr marL="457200" indent="-457200">
              <a:buFontTx/>
              <a:buChar char="-"/>
            </a:pPr>
            <a:endParaRPr lang="vi-VN" sz="32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r>
              <a:rPr lang="vi-VN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Dễ quản lý chương trinh.</a:t>
            </a:r>
          </a:p>
          <a:p>
            <a:pPr marL="457200" indent="-457200">
              <a:buFontTx/>
              <a:buChar char="-"/>
            </a:pPr>
            <a:endParaRPr lang="vi-VN" sz="32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28454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57625" y="1609725"/>
            <a:ext cx="3019425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62349" y="344210"/>
            <a:ext cx="818197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6000" dirty="0" smtClean="0">
                <a:latin typeface="+mj-lt"/>
                <a:cs typeface="Times New Roman" panose="02020603050405020304" pitchFamily="18" charset="0"/>
              </a:rPr>
              <a:t>Hàm dùng để làm </a:t>
            </a:r>
            <a:r>
              <a:rPr lang="vi-VN" sz="6000" dirty="0">
                <a:latin typeface="+mj-lt"/>
                <a:cs typeface="Times New Roman" panose="02020603050405020304" pitchFamily="18" charset="0"/>
              </a:rPr>
              <a:t>gì </a:t>
            </a:r>
            <a:r>
              <a:rPr lang="vi-VN" sz="6000" dirty="0" smtClean="0">
                <a:latin typeface="+mj-lt"/>
                <a:cs typeface="Times New Roman" panose="02020603050405020304" pitchFamily="18" charset="0"/>
              </a:rPr>
              <a:t>?</a:t>
            </a:r>
            <a:endParaRPr lang="en-US" sz="6000" dirty="0">
              <a:latin typeface="+mj-lt"/>
            </a:endParaRPr>
          </a:p>
          <a:p>
            <a:endParaRPr lang="en-US" sz="6000" dirty="0">
              <a:latin typeface="+mj-l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97280" y="2082905"/>
            <a:ext cx="1024998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vi-VN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Hàm giúp tách một chương trinh ra thành các đoạn code nhỏ có chức năng cụ thể, hoàn chỉnh.</a:t>
            </a:r>
          </a:p>
          <a:p>
            <a:pPr marL="457200" indent="-457200">
              <a:buFontTx/>
              <a:buChar char="-"/>
            </a:pPr>
            <a:endParaRPr lang="vi-VN" sz="32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r>
              <a:rPr lang="vi-VN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Dễ quản lý chương trinh.</a:t>
            </a:r>
          </a:p>
          <a:p>
            <a:pPr marL="457200" indent="-457200">
              <a:buFontTx/>
              <a:buChar char="-"/>
            </a:pPr>
            <a:endParaRPr lang="vi-VN" sz="32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r>
              <a:rPr lang="vi-V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Rõ ràng, tường minh từng chức năng.</a:t>
            </a:r>
          </a:p>
          <a:p>
            <a:pPr marL="457200" indent="-457200">
              <a:buFontTx/>
              <a:buChar char="-"/>
            </a:pPr>
            <a:endParaRPr lang="vi-V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endParaRPr lang="vi-VN" sz="32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endParaRPr lang="vi-VN" sz="32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71763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57625" y="1609725"/>
            <a:ext cx="3019425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62349" y="344210"/>
            <a:ext cx="818197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6000" dirty="0" smtClean="0">
                <a:latin typeface="+mj-lt"/>
                <a:cs typeface="Times New Roman" panose="02020603050405020304" pitchFamily="18" charset="0"/>
              </a:rPr>
              <a:t>Hàm dùng để làm </a:t>
            </a:r>
            <a:r>
              <a:rPr lang="vi-VN" sz="6000" dirty="0">
                <a:latin typeface="+mj-lt"/>
                <a:cs typeface="Times New Roman" panose="02020603050405020304" pitchFamily="18" charset="0"/>
              </a:rPr>
              <a:t>gì </a:t>
            </a:r>
            <a:r>
              <a:rPr lang="vi-VN" sz="6000" dirty="0" smtClean="0">
                <a:latin typeface="+mj-lt"/>
                <a:cs typeface="Times New Roman" panose="02020603050405020304" pitchFamily="18" charset="0"/>
              </a:rPr>
              <a:t>?</a:t>
            </a:r>
            <a:endParaRPr lang="en-US" sz="6000" dirty="0">
              <a:latin typeface="+mj-lt"/>
            </a:endParaRPr>
          </a:p>
          <a:p>
            <a:endParaRPr lang="en-US" sz="6000" dirty="0">
              <a:latin typeface="+mj-lt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97280" y="2082905"/>
            <a:ext cx="1024998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vi-VN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Hàm giúp tách một chương trinh ra thành các đoạn code nhỏ có chức năng cụ thể, hoàn chỉnh.</a:t>
            </a:r>
          </a:p>
          <a:p>
            <a:pPr marL="457200" indent="-457200">
              <a:buFontTx/>
              <a:buChar char="-"/>
            </a:pPr>
            <a:endParaRPr lang="vi-VN" sz="32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r>
              <a:rPr lang="vi-VN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Dễ quản lý chương trinh.</a:t>
            </a:r>
          </a:p>
          <a:p>
            <a:pPr marL="457200" indent="-457200">
              <a:buFontTx/>
              <a:buChar char="-"/>
            </a:pPr>
            <a:endParaRPr lang="vi-VN" sz="32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r>
              <a:rPr lang="vi-VN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Rõ ràng, tường minh từng chức năng.</a:t>
            </a:r>
          </a:p>
          <a:p>
            <a:pPr marL="457200" indent="-457200">
              <a:buFontTx/>
              <a:buChar char="-"/>
            </a:pPr>
            <a:endParaRPr lang="vi-VN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r>
              <a:rPr lang="vi-VN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Có thể tái sử dụng lại code.</a:t>
            </a:r>
          </a:p>
          <a:p>
            <a:pPr marL="457200" indent="-457200">
              <a:buFontTx/>
              <a:buChar char="-"/>
            </a:pPr>
            <a:endParaRPr lang="vi-VN" sz="32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53492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57625" y="1609725"/>
            <a:ext cx="3019425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62349" y="344210"/>
            <a:ext cx="818197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6000" dirty="0" smtClean="0">
                <a:latin typeface="+mj-lt"/>
                <a:cs typeface="Times New Roman" panose="02020603050405020304" pitchFamily="18" charset="0"/>
              </a:rPr>
              <a:t>Hàm trông như thế nào ?</a:t>
            </a:r>
            <a:endParaRPr lang="en-US" sz="6000" dirty="0">
              <a:latin typeface="+mj-lt"/>
            </a:endParaRPr>
          </a:p>
          <a:p>
            <a:endParaRPr lang="en-US" sz="60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55291621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57625" y="1609725"/>
            <a:ext cx="3019425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62349" y="344210"/>
            <a:ext cx="818197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6000" dirty="0" smtClean="0">
                <a:latin typeface="+mj-lt"/>
                <a:cs typeface="Times New Roman" panose="02020603050405020304" pitchFamily="18" charset="0"/>
              </a:rPr>
              <a:t>Hàm trông như thế nào ?</a:t>
            </a:r>
            <a:endParaRPr lang="en-US" sz="6000" dirty="0">
              <a:latin typeface="+mj-lt"/>
            </a:endParaRPr>
          </a:p>
          <a:p>
            <a:endParaRPr lang="en-US" sz="6000" dirty="0">
              <a:latin typeface="+mj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61157" y="1800225"/>
            <a:ext cx="23855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3200" dirty="0" smtClean="0">
                <a:latin typeface="+mj-lt"/>
              </a:rPr>
              <a:t>Một số ví dụ:</a:t>
            </a:r>
            <a:endParaRPr lang="en-US" sz="32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8691378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57625" y="1609725"/>
            <a:ext cx="3019425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62349" y="344210"/>
            <a:ext cx="818197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6000" dirty="0" smtClean="0">
                <a:latin typeface="+mj-lt"/>
                <a:cs typeface="Times New Roman" panose="02020603050405020304" pitchFamily="18" charset="0"/>
              </a:rPr>
              <a:t>Hàm trông như thế nào ?</a:t>
            </a:r>
            <a:endParaRPr lang="en-US" sz="6000" dirty="0">
              <a:latin typeface="+mj-lt"/>
            </a:endParaRPr>
          </a:p>
          <a:p>
            <a:endParaRPr lang="en-US" sz="6000" dirty="0">
              <a:latin typeface="+mj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61157" y="1800225"/>
            <a:ext cx="23855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3200" dirty="0" smtClean="0">
                <a:latin typeface="+mj-lt"/>
              </a:rPr>
              <a:t>Một số ví dụ:</a:t>
            </a:r>
            <a:endParaRPr lang="en-US" sz="3200" dirty="0">
              <a:latin typeface="+mj-lt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377" y="2673042"/>
            <a:ext cx="3048000" cy="1411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70769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57625" y="1609725"/>
            <a:ext cx="3019425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62349" y="344210"/>
            <a:ext cx="818197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6000" dirty="0" smtClean="0">
                <a:latin typeface="+mj-lt"/>
                <a:cs typeface="Times New Roman" panose="02020603050405020304" pitchFamily="18" charset="0"/>
              </a:rPr>
              <a:t>Hàm trông như thế nào ?</a:t>
            </a:r>
            <a:endParaRPr lang="en-US" sz="6000" dirty="0">
              <a:latin typeface="+mj-lt"/>
            </a:endParaRPr>
          </a:p>
          <a:p>
            <a:endParaRPr lang="en-US" sz="6000" dirty="0">
              <a:latin typeface="+mj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61157" y="1800225"/>
            <a:ext cx="23855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3200" dirty="0" smtClean="0">
                <a:latin typeface="+mj-lt"/>
              </a:rPr>
              <a:t>Một số ví dụ:</a:t>
            </a:r>
            <a:endParaRPr lang="en-US" sz="3200" dirty="0">
              <a:latin typeface="+mj-lt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377" y="2673042"/>
            <a:ext cx="3048000" cy="1411278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0751" y="1990726"/>
            <a:ext cx="4199271" cy="2198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39115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857625" y="1609725"/>
            <a:ext cx="3019425" cy="381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2462349" y="344210"/>
            <a:ext cx="8181975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6000" dirty="0" smtClean="0">
                <a:latin typeface="+mj-lt"/>
                <a:cs typeface="Times New Roman" panose="02020603050405020304" pitchFamily="18" charset="0"/>
              </a:rPr>
              <a:t>Hàm trông như thế nào ?</a:t>
            </a:r>
            <a:endParaRPr lang="en-US" sz="6000" dirty="0">
              <a:latin typeface="+mj-lt"/>
            </a:endParaRPr>
          </a:p>
          <a:p>
            <a:endParaRPr lang="en-US" sz="6000" dirty="0">
              <a:latin typeface="+mj-lt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61157" y="1800225"/>
            <a:ext cx="238558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3200" dirty="0" smtClean="0">
                <a:latin typeface="+mj-lt"/>
              </a:rPr>
              <a:t>Một số ví dụ:</a:t>
            </a:r>
            <a:endParaRPr lang="en-US" sz="3200" dirty="0">
              <a:latin typeface="+mj-lt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377" y="2673042"/>
            <a:ext cx="3048000" cy="1411278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0751" y="1990726"/>
            <a:ext cx="4199271" cy="2198098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42606" y="4372361"/>
            <a:ext cx="5103223" cy="2158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14212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5555" y="269967"/>
            <a:ext cx="7715794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5500" dirty="0" smtClean="0">
                <a:latin typeface="+mj-lt"/>
              </a:rPr>
              <a:t>Khai báo, Định Nghĩa</a:t>
            </a:r>
            <a:endParaRPr lang="en-US" sz="55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5919987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5555" y="269967"/>
            <a:ext cx="7715794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5500" dirty="0" smtClean="0">
                <a:latin typeface="+mj-lt"/>
              </a:rPr>
              <a:t>Khai báo, Định Nghĩa</a:t>
            </a:r>
            <a:endParaRPr lang="en-US" sz="5500" dirty="0">
              <a:latin typeface="+mj-l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05395" y="1654630"/>
            <a:ext cx="10850879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vi-VN" sz="2800" dirty="0" smtClean="0">
                <a:latin typeface="+mj-lt"/>
              </a:rPr>
              <a:t>Ta phân biệt hai khái niệm: khai báo là khai báo nguyên mẫu. Còn định nghĩa là viết nội dung cụ thể của hàm.</a:t>
            </a:r>
          </a:p>
          <a:p>
            <a:pPr marL="457200" indent="-457200">
              <a:buFontTx/>
              <a:buChar char="-"/>
            </a:pPr>
            <a:endParaRPr lang="en-US" sz="2800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33726044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5555" y="269967"/>
            <a:ext cx="7715794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5500" dirty="0" smtClean="0">
                <a:latin typeface="+mj-lt"/>
              </a:rPr>
              <a:t>Khai báo, Định Nghĩa</a:t>
            </a:r>
            <a:endParaRPr lang="en-US" sz="5500" dirty="0">
              <a:latin typeface="+mj-l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05395" y="1645921"/>
            <a:ext cx="10877005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vi-VN" sz="2800" dirty="0" smtClean="0">
                <a:latin typeface="+mj-lt"/>
              </a:rPr>
              <a:t>Ta phân biệt hai khái niệm: khai báo là khai báo nguyên mẫu. Còn định nghĩa là viết nội dung cụ thể của hàm.</a:t>
            </a:r>
          </a:p>
          <a:p>
            <a:pPr marL="457200" indent="-457200">
              <a:buFontTx/>
              <a:buChar char="-"/>
            </a:pPr>
            <a:endParaRPr lang="vi-VN" sz="2800" dirty="0" smtClean="0">
              <a:latin typeface="+mj-lt"/>
            </a:endParaRPr>
          </a:p>
          <a:p>
            <a:pPr marL="457200" indent="-457200">
              <a:buFontTx/>
              <a:buChar char="-"/>
            </a:pPr>
            <a:r>
              <a:rPr lang="vi-VN" sz="2800" dirty="0" smtClean="0">
                <a:latin typeface="+mj-lt"/>
              </a:rPr>
              <a:t>Khai báo: </a:t>
            </a:r>
          </a:p>
          <a:p>
            <a:pPr lvl="2"/>
            <a:r>
              <a:rPr lang="vi-VN" sz="2400" dirty="0" smtClean="0">
                <a:solidFill>
                  <a:srgbClr val="FFFF00"/>
                </a:solidFill>
              </a:rPr>
              <a:t>Kiểu_trả_về</a:t>
            </a:r>
            <a:r>
              <a:rPr lang="vi-VN" sz="2400" dirty="0" smtClean="0"/>
              <a:t>  </a:t>
            </a:r>
            <a:r>
              <a:rPr lang="vi-VN" sz="2400" dirty="0">
                <a:solidFill>
                  <a:schemeClr val="accent2">
                    <a:lumMod val="75000"/>
                  </a:schemeClr>
                </a:solidFill>
              </a:rPr>
              <a:t>t</a:t>
            </a:r>
            <a:r>
              <a:rPr lang="vi-VN" sz="2400" dirty="0" smtClean="0">
                <a:solidFill>
                  <a:schemeClr val="accent2">
                    <a:lumMod val="75000"/>
                  </a:schemeClr>
                </a:solidFill>
              </a:rPr>
              <a:t>ên_hàm</a:t>
            </a:r>
            <a:r>
              <a:rPr lang="vi-VN" sz="2400" dirty="0" smtClean="0"/>
              <a:t>( khai báo </a:t>
            </a:r>
            <a:r>
              <a:rPr lang="vi-VN" sz="2400" dirty="0" smtClean="0">
                <a:solidFill>
                  <a:schemeClr val="accent6">
                    <a:lumMod val="75000"/>
                  </a:schemeClr>
                </a:solidFill>
              </a:rPr>
              <a:t>danh_sách_tham_số</a:t>
            </a:r>
            <a:r>
              <a:rPr lang="vi-VN" sz="2400" dirty="0" smtClean="0"/>
              <a:t> ) ;</a:t>
            </a:r>
          </a:p>
        </p:txBody>
      </p:sp>
    </p:spTree>
    <p:extLst>
      <p:ext uri="{BB962C8B-B14F-4D97-AF65-F5344CB8AC3E}">
        <p14:creationId xmlns:p14="http://schemas.microsoft.com/office/powerpoint/2010/main" val="990349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5555" y="269967"/>
            <a:ext cx="7715794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5500" dirty="0" smtClean="0">
                <a:latin typeface="+mj-lt"/>
              </a:rPr>
              <a:t>Khai báo, Định Nghĩa</a:t>
            </a:r>
            <a:endParaRPr lang="en-US" sz="5500" dirty="0">
              <a:latin typeface="+mj-l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05394" y="1645921"/>
            <a:ext cx="11303725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vi-VN" sz="2800" dirty="0" smtClean="0">
                <a:latin typeface="+mj-lt"/>
              </a:rPr>
              <a:t>Ta phân biệt hai khái niệm: khai báo là khai báo nguyên mẫu. Còn định nghĩa là viết nội dung cụ thể của hàm.</a:t>
            </a:r>
          </a:p>
          <a:p>
            <a:pPr marL="457200" indent="-457200">
              <a:buFontTx/>
              <a:buChar char="-"/>
            </a:pPr>
            <a:endParaRPr lang="vi-VN" sz="2800" dirty="0" smtClean="0">
              <a:latin typeface="+mj-lt"/>
            </a:endParaRPr>
          </a:p>
          <a:p>
            <a:pPr marL="457200" indent="-457200">
              <a:buFontTx/>
              <a:buChar char="-"/>
            </a:pPr>
            <a:r>
              <a:rPr lang="vi-VN" sz="2800" dirty="0" smtClean="0">
                <a:latin typeface="+mj-lt"/>
              </a:rPr>
              <a:t>Khai báo: </a:t>
            </a:r>
          </a:p>
          <a:p>
            <a:pPr lvl="2"/>
            <a:r>
              <a:rPr lang="vi-VN" sz="2400" dirty="0" smtClean="0">
                <a:solidFill>
                  <a:srgbClr val="FFFF00"/>
                </a:solidFill>
              </a:rPr>
              <a:t>Kiểu_trả_về</a:t>
            </a:r>
            <a:r>
              <a:rPr lang="vi-VN" sz="2400" dirty="0" smtClean="0"/>
              <a:t>  </a:t>
            </a:r>
            <a:r>
              <a:rPr lang="vi-VN" sz="2400" dirty="0">
                <a:solidFill>
                  <a:schemeClr val="accent2">
                    <a:lumMod val="75000"/>
                  </a:schemeClr>
                </a:solidFill>
              </a:rPr>
              <a:t>t</a:t>
            </a:r>
            <a:r>
              <a:rPr lang="vi-VN" sz="2400" dirty="0" smtClean="0">
                <a:solidFill>
                  <a:schemeClr val="accent2">
                    <a:lumMod val="75000"/>
                  </a:schemeClr>
                </a:solidFill>
              </a:rPr>
              <a:t>ên_hàm</a:t>
            </a:r>
            <a:r>
              <a:rPr lang="vi-VN" sz="2400" dirty="0" smtClean="0"/>
              <a:t>( khai báo </a:t>
            </a:r>
            <a:r>
              <a:rPr lang="vi-VN" sz="2400" dirty="0" smtClean="0">
                <a:solidFill>
                  <a:schemeClr val="accent6">
                    <a:lumMod val="75000"/>
                  </a:schemeClr>
                </a:solidFill>
              </a:rPr>
              <a:t>danh_sách_tham_số</a:t>
            </a:r>
            <a:r>
              <a:rPr lang="vi-VN" sz="2400" dirty="0" smtClean="0"/>
              <a:t> ) ;</a:t>
            </a:r>
          </a:p>
          <a:p>
            <a:pPr marL="457200" indent="-457200">
              <a:buFontTx/>
              <a:buChar char="-"/>
            </a:pPr>
            <a:endParaRPr lang="vi-VN" sz="2400" dirty="0"/>
          </a:p>
          <a:p>
            <a:pPr marL="457200" indent="-457200">
              <a:buFontTx/>
              <a:buChar char="-"/>
            </a:pPr>
            <a:r>
              <a:rPr lang="vi-VN" sz="2800" dirty="0" smtClean="0">
                <a:latin typeface="+mj-lt"/>
              </a:rPr>
              <a:t>Định nghĩa: </a:t>
            </a:r>
          </a:p>
          <a:p>
            <a:pPr lvl="1"/>
            <a:r>
              <a:rPr lang="vi-VN" sz="2400" dirty="0" smtClean="0">
                <a:solidFill>
                  <a:srgbClr val="FFFF00"/>
                </a:solidFill>
              </a:rPr>
              <a:t>	Kiểu_trả_về</a:t>
            </a:r>
            <a:r>
              <a:rPr lang="vi-VN" sz="2400" dirty="0" smtClean="0"/>
              <a:t>  </a:t>
            </a:r>
            <a:r>
              <a:rPr lang="vi-VN" sz="2400" dirty="0">
                <a:solidFill>
                  <a:schemeClr val="accent2">
                    <a:lumMod val="75000"/>
                  </a:schemeClr>
                </a:solidFill>
              </a:rPr>
              <a:t>tên_hàm</a:t>
            </a:r>
            <a:r>
              <a:rPr lang="vi-VN" sz="2400" dirty="0" smtClean="0"/>
              <a:t>( khai báo </a:t>
            </a:r>
            <a:r>
              <a:rPr lang="vi-VN" sz="2400" dirty="0">
                <a:solidFill>
                  <a:schemeClr val="accent6">
                    <a:lumMod val="75000"/>
                  </a:schemeClr>
                </a:solidFill>
              </a:rPr>
              <a:t>danh_sách_tham_số</a:t>
            </a:r>
            <a:r>
              <a:rPr lang="vi-VN" sz="2400" dirty="0"/>
              <a:t> </a:t>
            </a:r>
            <a:r>
              <a:rPr lang="vi-VN" sz="2800" dirty="0" smtClean="0"/>
              <a:t>){</a:t>
            </a:r>
          </a:p>
          <a:p>
            <a:pPr lvl="1"/>
            <a:r>
              <a:rPr lang="vi-VN" sz="2800" dirty="0">
                <a:latin typeface="+mj-lt"/>
              </a:rPr>
              <a:t>	</a:t>
            </a:r>
            <a:r>
              <a:rPr lang="vi-VN" sz="2800" dirty="0" smtClean="0">
                <a:latin typeface="+mj-lt"/>
              </a:rPr>
              <a:t>	</a:t>
            </a:r>
            <a:r>
              <a:rPr lang="vi-VN" sz="2400" dirty="0" smtClean="0">
                <a:solidFill>
                  <a:schemeClr val="accent2">
                    <a:lumMod val="75000"/>
                  </a:schemeClr>
                </a:solidFill>
              </a:rPr>
              <a:t>// khối lệnh</a:t>
            </a:r>
          </a:p>
          <a:p>
            <a:pPr lvl="1"/>
            <a:r>
              <a:rPr lang="vi-VN" sz="2400" dirty="0">
                <a:solidFill>
                  <a:schemeClr val="accent2">
                    <a:lumMod val="75000"/>
                  </a:schemeClr>
                </a:solidFill>
              </a:rPr>
              <a:t>	</a:t>
            </a:r>
            <a:r>
              <a:rPr lang="vi-VN" sz="2400" dirty="0" smtClean="0">
                <a:solidFill>
                  <a:schemeClr val="accent2">
                    <a:lumMod val="75000"/>
                  </a:schemeClr>
                </a:solidFill>
              </a:rPr>
              <a:t>	</a:t>
            </a:r>
            <a:r>
              <a:rPr lang="vi-VN" sz="2400" dirty="0" smtClean="0">
                <a:solidFill>
                  <a:schemeClr val="accent1">
                    <a:lumMod val="75000"/>
                  </a:schemeClr>
                </a:solidFill>
              </a:rPr>
              <a:t>return </a:t>
            </a:r>
            <a:r>
              <a:rPr lang="vi-VN" sz="2400" dirty="0" smtClean="0">
                <a:solidFill>
                  <a:srgbClr val="FFFF00"/>
                </a:solidFill>
              </a:rPr>
              <a:t>Giá_trị </a:t>
            </a:r>
            <a:r>
              <a:rPr lang="vi-VN" sz="2400" dirty="0" smtClean="0"/>
              <a:t>; </a:t>
            </a:r>
            <a:r>
              <a:rPr lang="vi-VN" sz="2400" dirty="0" smtClean="0">
                <a:solidFill>
                  <a:srgbClr val="00B0F0"/>
                </a:solidFill>
              </a:rPr>
              <a:t>// nếu kiểu_trả_về là void thì không cần câu lệnh này	</a:t>
            </a:r>
          </a:p>
          <a:p>
            <a:pPr lvl="1"/>
            <a:r>
              <a:rPr lang="vi-VN" sz="2400" dirty="0" smtClean="0">
                <a:latin typeface="+mj-lt"/>
              </a:rPr>
              <a:t>	}</a:t>
            </a:r>
            <a:endParaRPr lang="vi-VN" sz="2800" dirty="0" smtClean="0"/>
          </a:p>
          <a:p>
            <a:pPr marL="457200" indent="-457200">
              <a:buFontTx/>
              <a:buChar char="-"/>
            </a:pPr>
            <a:endParaRPr lang="vi-VN" sz="2400" dirty="0" smtClean="0"/>
          </a:p>
        </p:txBody>
      </p:sp>
    </p:spTree>
    <p:extLst>
      <p:ext uri="{BB962C8B-B14F-4D97-AF65-F5344CB8AC3E}">
        <p14:creationId xmlns:p14="http://schemas.microsoft.com/office/powerpoint/2010/main" val="42829843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5555" y="269967"/>
            <a:ext cx="7715794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5500" dirty="0" smtClean="0">
                <a:latin typeface="+mj-lt"/>
              </a:rPr>
              <a:t>Khai báo, Định Nghĩa</a:t>
            </a:r>
            <a:endParaRPr lang="en-US" sz="5500" dirty="0">
              <a:latin typeface="+mj-l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19" y="1489165"/>
            <a:ext cx="10633166" cy="12618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Trong đó</a:t>
            </a:r>
            <a:r>
              <a:rPr lang="vi-VN" sz="2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342900" indent="-342900">
              <a:buFontTx/>
              <a:buChar char="-"/>
            </a:pPr>
            <a:r>
              <a:rPr lang="vi-VN" sz="2300" dirty="0" smtClean="0">
                <a:solidFill>
                  <a:srgbClr val="FFFF00"/>
                </a:solidFill>
              </a:rPr>
              <a:t>Kiểu_trả_về:  </a:t>
            </a:r>
            <a:r>
              <a:rPr lang="vi-VN" sz="2300" dirty="0" smtClean="0"/>
              <a:t>là kiểu hợp lệ trong ngôn ngữ C, thường là void, kiểu cơ bản ( nguyên thủy ), kiểu con trỏ, ...</a:t>
            </a:r>
            <a:r>
              <a:rPr lang="vi-VN" sz="2500" dirty="0" smtClean="0"/>
              <a:t> </a:t>
            </a:r>
            <a:endParaRPr lang="en-US" sz="2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5790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5555" y="269967"/>
            <a:ext cx="7715794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5500" dirty="0" smtClean="0">
                <a:latin typeface="+mj-lt"/>
              </a:rPr>
              <a:t>Khai báo, Định Nghĩa</a:t>
            </a:r>
            <a:endParaRPr lang="en-US" sz="5500" dirty="0">
              <a:latin typeface="+mj-l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19" y="1489165"/>
            <a:ext cx="10633166" cy="23544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Trong đó</a:t>
            </a:r>
            <a:r>
              <a:rPr lang="vi-VN" sz="2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342900" indent="-342900">
              <a:buFontTx/>
              <a:buChar char="-"/>
            </a:pPr>
            <a:r>
              <a:rPr lang="vi-VN" sz="2300" dirty="0" smtClean="0">
                <a:solidFill>
                  <a:srgbClr val="FFFF00"/>
                </a:solidFill>
              </a:rPr>
              <a:t>Kiểu_trả_về:  </a:t>
            </a:r>
            <a:r>
              <a:rPr lang="vi-VN" sz="2300" dirty="0" smtClean="0"/>
              <a:t>là kiểu hợp lệ trong ngôn ngữ C, thường là void, kiểu cơ bản ( nguyên thủy ), kiểu con trỏ, ...</a:t>
            </a:r>
            <a:r>
              <a:rPr lang="vi-VN" sz="2500" dirty="0" smtClean="0"/>
              <a:t> </a:t>
            </a:r>
          </a:p>
          <a:p>
            <a:pPr marL="342900" indent="-342900">
              <a:buFontTx/>
              <a:buChar char="-"/>
            </a:pPr>
            <a:endParaRPr lang="vi-VN" sz="2500" dirty="0" smtClean="0"/>
          </a:p>
          <a:p>
            <a:pPr marL="342900" indent="-342900">
              <a:buFontTx/>
              <a:buChar char="-"/>
            </a:pPr>
            <a:r>
              <a:rPr lang="vi-VN" sz="2300" dirty="0" smtClean="0">
                <a:solidFill>
                  <a:srgbClr val="00B0F0"/>
                </a:solidFill>
                <a:cs typeface="Times New Roman" panose="02020603050405020304" pitchFamily="18" charset="0"/>
              </a:rPr>
              <a:t>Tên_hàm:</a:t>
            </a:r>
            <a:r>
              <a:rPr lang="vi-VN" sz="2300" dirty="0" smtClean="0">
                <a:solidFill>
                  <a:srgbClr val="FFFF00"/>
                </a:solidFill>
                <a:cs typeface="Times New Roman" panose="02020603050405020304" pitchFamily="18" charset="0"/>
              </a:rPr>
              <a:t> </a:t>
            </a:r>
            <a:r>
              <a:rPr lang="vi-VN" sz="2300" dirty="0" smtClean="0">
                <a:cs typeface="Times New Roman" panose="02020603050405020304" pitchFamily="18" charset="0"/>
              </a:rPr>
              <a:t>do người dùng tự đặt, liên quan đến chứ năng của hàm, tránh các keyword, theo quy tắc CamelCase.</a:t>
            </a:r>
            <a:endParaRPr lang="en-US" sz="2300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59232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5555" y="269967"/>
            <a:ext cx="7715794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5500" dirty="0" smtClean="0">
                <a:latin typeface="+mj-lt"/>
              </a:rPr>
              <a:t>Khai báo, Định Nghĩa</a:t>
            </a:r>
            <a:endParaRPr lang="en-US" sz="5500" dirty="0">
              <a:latin typeface="+mj-l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19" y="1489165"/>
            <a:ext cx="10633166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Trong đó</a:t>
            </a:r>
            <a:r>
              <a:rPr lang="vi-VN" sz="2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342900" indent="-342900">
              <a:buFontTx/>
              <a:buChar char="-"/>
            </a:pPr>
            <a:r>
              <a:rPr lang="vi-VN" sz="2300" dirty="0" smtClean="0">
                <a:solidFill>
                  <a:srgbClr val="FFFF00"/>
                </a:solidFill>
              </a:rPr>
              <a:t>Kiểu_trả_về:  </a:t>
            </a:r>
            <a:r>
              <a:rPr lang="vi-VN" sz="2300" dirty="0" smtClean="0"/>
              <a:t>là kiểu hợp lệ trong ngôn ngữ C, thường là void, kiểu cơ bản ( nguyên thủy ), kiểu con trỏ, ...</a:t>
            </a:r>
            <a:r>
              <a:rPr lang="vi-VN" sz="2500" dirty="0" smtClean="0"/>
              <a:t> </a:t>
            </a:r>
          </a:p>
          <a:p>
            <a:pPr marL="342900" indent="-342900">
              <a:buFontTx/>
              <a:buChar char="-"/>
            </a:pPr>
            <a:endParaRPr lang="vi-VN" sz="2500" dirty="0" smtClean="0"/>
          </a:p>
          <a:p>
            <a:pPr marL="342900" indent="-342900">
              <a:buFontTx/>
              <a:buChar char="-"/>
            </a:pPr>
            <a:r>
              <a:rPr lang="vi-VN" sz="2300" dirty="0" smtClean="0">
                <a:solidFill>
                  <a:srgbClr val="00B0F0"/>
                </a:solidFill>
                <a:cs typeface="Times New Roman" panose="02020603050405020304" pitchFamily="18" charset="0"/>
              </a:rPr>
              <a:t>Tên_hàm:</a:t>
            </a:r>
            <a:r>
              <a:rPr lang="vi-VN" sz="2500" dirty="0" smtClean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sz="2300" dirty="0" smtClean="0">
                <a:cs typeface="Times New Roman" panose="02020603050405020304" pitchFamily="18" charset="0"/>
              </a:rPr>
              <a:t>do người dùng tự đặt, liên quan đến chứ năng của hàm, tránh các keyword, theo quy tắc CamelCase.</a:t>
            </a:r>
          </a:p>
          <a:p>
            <a:pPr marL="342900" indent="-342900">
              <a:buFontTx/>
              <a:buChar char="-"/>
            </a:pPr>
            <a:endParaRPr lang="vi-VN" sz="2300" dirty="0" smtClean="0"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vi-VN" sz="2300" dirty="0" smtClean="0">
                <a:solidFill>
                  <a:schemeClr val="accent6">
                    <a:lumMod val="75000"/>
                  </a:schemeClr>
                </a:solidFill>
                <a:cs typeface="Times New Roman" panose="02020603050405020304" pitchFamily="18" charset="0"/>
              </a:rPr>
              <a:t>Danh_sách_tham_số</a:t>
            </a:r>
            <a:r>
              <a:rPr lang="vi-VN" sz="2500" dirty="0" smtClean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vi-VN" sz="23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sz="2300" dirty="0" smtClean="0">
                <a:cs typeface="Times New Roman" panose="02020603050405020304" pitchFamily="18" charset="0"/>
              </a:rPr>
              <a:t>không bắt buộc, các </a:t>
            </a:r>
            <a:r>
              <a:rPr lang="vi-VN" sz="2300" dirty="0" smtClean="0">
                <a:solidFill>
                  <a:schemeClr val="accent6">
                    <a:lumMod val="75000"/>
                  </a:schemeClr>
                </a:solidFill>
                <a:cs typeface="Times New Roman" panose="02020603050405020304" pitchFamily="18" charset="0"/>
              </a:rPr>
              <a:t>tham_số</a:t>
            </a:r>
            <a:r>
              <a:rPr lang="vi-VN" sz="2300" dirty="0" smtClean="0">
                <a:cs typeface="Times New Roman" panose="02020603050405020304" pitchFamily="18" charset="0"/>
              </a:rPr>
              <a:t> có thể có hoặc không tùy thuộc vào mục đích sử dụng của hàm đó.</a:t>
            </a:r>
            <a:endParaRPr lang="en-US" sz="2500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11845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85555" y="269967"/>
            <a:ext cx="7715794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5500" dirty="0" smtClean="0">
                <a:latin typeface="+mj-lt"/>
              </a:rPr>
              <a:t>Khai báo, Định Nghĩa</a:t>
            </a:r>
            <a:endParaRPr lang="en-US" sz="5500" dirty="0">
              <a:latin typeface="+mj-l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731519" y="1489165"/>
            <a:ext cx="10633166" cy="42165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Trong đó</a:t>
            </a:r>
            <a:r>
              <a:rPr lang="vi-VN" sz="2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342900" indent="-342900">
              <a:buFontTx/>
              <a:buChar char="-"/>
            </a:pPr>
            <a:r>
              <a:rPr lang="vi-VN" sz="2300" dirty="0" smtClean="0">
                <a:solidFill>
                  <a:srgbClr val="FFFF00"/>
                </a:solidFill>
              </a:rPr>
              <a:t>Kiểu_trả_về:  </a:t>
            </a:r>
            <a:r>
              <a:rPr lang="vi-VN" sz="2300" dirty="0" smtClean="0"/>
              <a:t>là kiểu hợp lệ trong ngôn ngữ C, thường là void, kiểu cơ bản ( nguyên thủy ), kiểu con trỏ, ...</a:t>
            </a:r>
            <a:r>
              <a:rPr lang="vi-VN" sz="2500" dirty="0" smtClean="0"/>
              <a:t> </a:t>
            </a:r>
          </a:p>
          <a:p>
            <a:pPr marL="342900" indent="-342900">
              <a:buFontTx/>
              <a:buChar char="-"/>
            </a:pPr>
            <a:endParaRPr lang="vi-VN" sz="2500" dirty="0" smtClean="0"/>
          </a:p>
          <a:p>
            <a:pPr marL="342900" indent="-342900">
              <a:buFontTx/>
              <a:buChar char="-"/>
            </a:pPr>
            <a:r>
              <a:rPr lang="vi-VN" sz="2300" dirty="0" smtClean="0">
                <a:solidFill>
                  <a:srgbClr val="00B0F0"/>
                </a:solidFill>
                <a:cs typeface="Times New Roman" panose="02020603050405020304" pitchFamily="18" charset="0"/>
              </a:rPr>
              <a:t>Tên_hàm:</a:t>
            </a:r>
            <a:r>
              <a:rPr lang="vi-VN" sz="2500" dirty="0" smtClean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sz="2300" dirty="0" smtClean="0">
                <a:cs typeface="Times New Roman" panose="02020603050405020304" pitchFamily="18" charset="0"/>
              </a:rPr>
              <a:t>do người dùng tự đặt, liên quan đến chứ năng của hàm, tránh các keyword, theo quy tắc CamelCase.</a:t>
            </a:r>
          </a:p>
          <a:p>
            <a:pPr marL="342900" indent="-342900">
              <a:buFontTx/>
              <a:buChar char="-"/>
            </a:pPr>
            <a:endParaRPr lang="vi-VN" sz="2300" dirty="0" smtClean="0"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vi-VN" sz="2300" dirty="0" smtClean="0">
                <a:solidFill>
                  <a:schemeClr val="accent6">
                    <a:lumMod val="75000"/>
                  </a:schemeClr>
                </a:solidFill>
                <a:cs typeface="Times New Roman" panose="02020603050405020304" pitchFamily="18" charset="0"/>
              </a:rPr>
              <a:t>Danh_sách_tham_số</a:t>
            </a:r>
            <a:r>
              <a:rPr lang="vi-VN" sz="2500" dirty="0" smtClean="0">
                <a:solidFill>
                  <a:schemeClr val="accent6">
                    <a:lumMod val="7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r>
              <a:rPr lang="vi-VN" sz="2300" dirty="0">
                <a:solidFill>
                  <a:srgbClr val="FFFF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vi-VN" sz="2300" dirty="0" smtClean="0">
                <a:cs typeface="Times New Roman" panose="02020603050405020304" pitchFamily="18" charset="0"/>
              </a:rPr>
              <a:t>không bắt buộc, các </a:t>
            </a:r>
            <a:r>
              <a:rPr lang="vi-VN" sz="2300" dirty="0" smtClean="0">
                <a:solidFill>
                  <a:schemeClr val="accent6">
                    <a:lumMod val="75000"/>
                  </a:schemeClr>
                </a:solidFill>
                <a:cs typeface="Times New Roman" panose="02020603050405020304" pitchFamily="18" charset="0"/>
              </a:rPr>
              <a:t>tham_số</a:t>
            </a:r>
            <a:r>
              <a:rPr lang="vi-VN" sz="2300" dirty="0" smtClean="0">
                <a:cs typeface="Times New Roman" panose="02020603050405020304" pitchFamily="18" charset="0"/>
              </a:rPr>
              <a:t> có thể có hoặc không tùy thuộc vào mục đích sử dụng của hàm đó.</a:t>
            </a:r>
          </a:p>
          <a:p>
            <a:pPr marL="342900" indent="-342900">
              <a:buFontTx/>
              <a:buChar char="-"/>
            </a:pPr>
            <a:endParaRPr lang="vi-VN" sz="2300" dirty="0">
              <a:cs typeface="Times New Roman" panose="02020603050405020304" pitchFamily="18" charset="0"/>
            </a:endParaRPr>
          </a:p>
          <a:p>
            <a:pPr marL="342900" indent="-342900">
              <a:buFontTx/>
              <a:buChar char="-"/>
            </a:pPr>
            <a:r>
              <a:rPr lang="vi-VN" sz="2300" dirty="0" smtClean="0">
                <a:solidFill>
                  <a:srgbClr val="00B050"/>
                </a:solidFill>
                <a:cs typeface="Times New Roman" panose="02020603050405020304" pitchFamily="18" charset="0"/>
              </a:rPr>
              <a:t>Thân  hàm</a:t>
            </a:r>
            <a:r>
              <a:rPr lang="vi-VN" sz="2300" dirty="0">
                <a:solidFill>
                  <a:srgbClr val="00B050"/>
                </a:solidFill>
                <a:cs typeface="Times New Roman" panose="02020603050405020304" pitchFamily="18" charset="0"/>
              </a:rPr>
              <a:t>:</a:t>
            </a:r>
            <a:r>
              <a:rPr lang="vi-VN" sz="2300" dirty="0" smtClean="0">
                <a:cs typeface="Times New Roman" panose="02020603050405020304" pitchFamily="18" charset="0"/>
              </a:rPr>
              <a:t> gồm các câu lệnh thực hiện chức năng của hàm.</a:t>
            </a:r>
            <a:endParaRPr lang="en-US" sz="2500" dirty="0"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1032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53393" y="104503"/>
            <a:ext cx="5521235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5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Phân loại hàm</a:t>
            </a:r>
            <a:endParaRPr lang="en-US" sz="5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2609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53393" y="104503"/>
            <a:ext cx="5521235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5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Phân loại hàm</a:t>
            </a:r>
            <a:endParaRPr lang="en-US" sz="5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158241" y="1201782"/>
            <a:ext cx="32744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Phân thành 2 loại: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87595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53393" y="104503"/>
            <a:ext cx="5521235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5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Phân loại hàm</a:t>
            </a:r>
            <a:endParaRPr lang="en-US" sz="5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158240" y="1201782"/>
            <a:ext cx="1009323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Phân thành 2 loại:</a:t>
            </a:r>
          </a:p>
          <a:p>
            <a:r>
              <a:rPr lang="vi-VN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 	</a:t>
            </a:r>
            <a:r>
              <a:rPr lang="vi-VN" sz="2800" dirty="0" smtClean="0">
                <a:solidFill>
                  <a:srgbClr val="FFFF00"/>
                </a:solidFill>
                <a:cs typeface="Times New Roman" panose="02020603050405020304" pitchFamily="18" charset="0"/>
              </a:rPr>
              <a:t>Hàm trả về: </a:t>
            </a:r>
            <a:r>
              <a:rPr lang="vi-VN" sz="2800" dirty="0" smtClean="0">
                <a:cs typeface="Times New Roman" panose="02020603050405020304" pitchFamily="18" charset="0"/>
              </a:rPr>
              <a:t>có kiểu trả về khác </a:t>
            </a:r>
            <a:r>
              <a:rPr lang="vi-VN" sz="2800" dirty="0" smtClean="0">
                <a:solidFill>
                  <a:srgbClr val="00B0F0"/>
                </a:solidFill>
                <a:cs typeface="Times New Roman" panose="02020603050405020304" pitchFamily="18" charset="0"/>
              </a:rPr>
              <a:t>void</a:t>
            </a:r>
            <a:endParaRPr lang="en-US" sz="3200" dirty="0">
              <a:solidFill>
                <a:srgbClr val="00B0F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66988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53393" y="104503"/>
            <a:ext cx="5521235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5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Phân loại hàm</a:t>
            </a:r>
            <a:endParaRPr lang="en-US" sz="5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158240" y="1201782"/>
            <a:ext cx="10093233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Phân thành 2 loại:</a:t>
            </a:r>
          </a:p>
          <a:p>
            <a:r>
              <a:rPr lang="vi-VN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 	</a:t>
            </a:r>
            <a:r>
              <a:rPr lang="vi-VN" sz="2800" dirty="0" smtClean="0">
                <a:solidFill>
                  <a:srgbClr val="FFFF00"/>
                </a:solidFill>
                <a:cs typeface="Times New Roman" panose="02020603050405020304" pitchFamily="18" charset="0"/>
              </a:rPr>
              <a:t>Hàm trả về: </a:t>
            </a:r>
            <a:r>
              <a:rPr lang="vi-VN" sz="2800" dirty="0" smtClean="0">
                <a:cs typeface="Times New Roman" panose="02020603050405020304" pitchFamily="18" charset="0"/>
              </a:rPr>
              <a:t>có kiểu trả về khác </a:t>
            </a:r>
            <a:r>
              <a:rPr lang="vi-VN" sz="2800" dirty="0" smtClean="0">
                <a:solidFill>
                  <a:srgbClr val="00B0F0"/>
                </a:solidFill>
                <a:cs typeface="Times New Roman" panose="02020603050405020304" pitchFamily="18" charset="0"/>
              </a:rPr>
              <a:t>void</a:t>
            </a:r>
            <a:endParaRPr lang="en-US" sz="3200" dirty="0">
              <a:solidFill>
                <a:srgbClr val="00B0F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520" y="2360023"/>
            <a:ext cx="4085094" cy="1207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71646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53393" y="104503"/>
            <a:ext cx="5521235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5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Phân loại hàm</a:t>
            </a:r>
            <a:endParaRPr lang="en-US" sz="5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158240" y="1201782"/>
            <a:ext cx="10093233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Phân thành 2 loại:</a:t>
            </a:r>
          </a:p>
          <a:p>
            <a:pPr marL="457200" indent="-457200">
              <a:buFontTx/>
              <a:buChar char="-"/>
            </a:pPr>
            <a:r>
              <a:rPr lang="vi-VN" sz="2800" dirty="0" smtClean="0">
                <a:solidFill>
                  <a:srgbClr val="FFFF00"/>
                </a:solidFill>
                <a:cs typeface="Times New Roman" panose="02020603050405020304" pitchFamily="18" charset="0"/>
              </a:rPr>
              <a:t>Hàm trả về: </a:t>
            </a:r>
            <a:r>
              <a:rPr lang="vi-VN" sz="2800" dirty="0" smtClean="0">
                <a:cs typeface="Times New Roman" panose="02020603050405020304" pitchFamily="18" charset="0"/>
              </a:rPr>
              <a:t>có kiểu trả về khác </a:t>
            </a:r>
            <a:r>
              <a:rPr lang="vi-VN" sz="2800" dirty="0" smtClean="0">
                <a:solidFill>
                  <a:srgbClr val="00B0F0"/>
                </a:solidFill>
                <a:cs typeface="Times New Roman" panose="02020603050405020304" pitchFamily="18" charset="0"/>
              </a:rPr>
              <a:t>void</a:t>
            </a:r>
          </a:p>
          <a:p>
            <a:pPr marL="457200" indent="-457200">
              <a:buFontTx/>
              <a:buChar char="-"/>
            </a:pPr>
            <a:endParaRPr lang="vi-V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endParaRPr lang="vi-VN" sz="2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endParaRPr lang="vi-V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endParaRPr lang="vi-VN" sz="2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r>
              <a:rPr lang="vi-VN" sz="2800" dirty="0" smtClean="0">
                <a:solidFill>
                  <a:srgbClr val="FFFF00"/>
                </a:solidFill>
                <a:cs typeface="Times New Roman" panose="02020603050405020304" pitchFamily="18" charset="0"/>
              </a:rPr>
              <a:t>Hàm không trả về: </a:t>
            </a:r>
            <a:r>
              <a:rPr lang="vi-VN" sz="2800" dirty="0" smtClean="0">
                <a:cs typeface="Times New Roman" panose="02020603050405020304" pitchFamily="18" charset="0"/>
              </a:rPr>
              <a:t>có kiểu trả về là </a:t>
            </a:r>
            <a:r>
              <a:rPr lang="vi-VN" sz="2800" dirty="0" smtClean="0">
                <a:solidFill>
                  <a:srgbClr val="00B0F0"/>
                </a:solidFill>
                <a:cs typeface="Times New Roman" panose="02020603050405020304" pitchFamily="18" charset="0"/>
              </a:rPr>
              <a:t>void</a:t>
            </a:r>
            <a:endParaRPr lang="en-US" sz="3200" dirty="0">
              <a:solidFill>
                <a:srgbClr val="00B0F0"/>
              </a:solidFill>
              <a:cs typeface="Times New Roman" panose="02020603050405020304" pitchFamily="18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520" y="2360023"/>
            <a:ext cx="4085094" cy="1207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91010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53393" y="104503"/>
            <a:ext cx="5521235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5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Phân loại hàm</a:t>
            </a:r>
            <a:endParaRPr lang="en-US" sz="5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158240" y="1201782"/>
            <a:ext cx="10093233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2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Phân thành 2 loại:</a:t>
            </a:r>
          </a:p>
          <a:p>
            <a:pPr marL="457200" indent="-457200">
              <a:buFontTx/>
              <a:buChar char="-"/>
            </a:pPr>
            <a:r>
              <a:rPr lang="vi-VN" sz="2800" dirty="0" smtClean="0">
                <a:solidFill>
                  <a:srgbClr val="FFFF00"/>
                </a:solidFill>
                <a:cs typeface="Times New Roman" panose="02020603050405020304" pitchFamily="18" charset="0"/>
              </a:rPr>
              <a:t>Hàm trả về: </a:t>
            </a:r>
            <a:r>
              <a:rPr lang="vi-VN" sz="2800" dirty="0" smtClean="0">
                <a:cs typeface="Times New Roman" panose="02020603050405020304" pitchFamily="18" charset="0"/>
              </a:rPr>
              <a:t>có kiểu trả về khác </a:t>
            </a:r>
            <a:r>
              <a:rPr lang="vi-VN" sz="2800" dirty="0" smtClean="0">
                <a:solidFill>
                  <a:srgbClr val="00B0F0"/>
                </a:solidFill>
                <a:cs typeface="Times New Roman" panose="02020603050405020304" pitchFamily="18" charset="0"/>
              </a:rPr>
              <a:t>void</a:t>
            </a:r>
          </a:p>
          <a:p>
            <a:pPr marL="457200" indent="-457200">
              <a:buFontTx/>
              <a:buChar char="-"/>
            </a:pPr>
            <a:endParaRPr lang="vi-V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endParaRPr lang="vi-VN" sz="2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endParaRPr lang="vi-VN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endParaRPr lang="vi-VN" sz="2800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Tx/>
              <a:buChar char="-"/>
            </a:pPr>
            <a:r>
              <a:rPr lang="vi-VN" sz="2800" dirty="0" smtClean="0">
                <a:solidFill>
                  <a:srgbClr val="FFFF00"/>
                </a:solidFill>
                <a:cs typeface="Times New Roman" panose="02020603050405020304" pitchFamily="18" charset="0"/>
              </a:rPr>
              <a:t>Hàm không trả về: </a:t>
            </a:r>
            <a:r>
              <a:rPr lang="vi-VN" sz="2800" dirty="0" smtClean="0">
                <a:cs typeface="Times New Roman" panose="02020603050405020304" pitchFamily="18" charset="0"/>
              </a:rPr>
              <a:t>có kiểu trả về là </a:t>
            </a:r>
            <a:r>
              <a:rPr lang="vi-VN" sz="2800" dirty="0" smtClean="0">
                <a:solidFill>
                  <a:srgbClr val="00B0F0"/>
                </a:solidFill>
                <a:cs typeface="Times New Roman" panose="02020603050405020304" pitchFamily="18" charset="0"/>
              </a:rPr>
              <a:t>void</a:t>
            </a:r>
            <a:endParaRPr lang="en-US" sz="3200" dirty="0">
              <a:solidFill>
                <a:srgbClr val="00B0F0"/>
              </a:solidFill>
              <a:cs typeface="Times New Roman" panose="02020603050405020304" pitchFamily="18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5520" y="2360023"/>
            <a:ext cx="4085094" cy="120735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55519" y="4591996"/>
            <a:ext cx="4746171" cy="1246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8751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07177" y="191589"/>
            <a:ext cx="10485120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Làm sao để sử dụng được ?</a:t>
            </a:r>
          </a:p>
          <a:p>
            <a:endParaRPr lang="en-US" sz="5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702147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907177" y="191589"/>
            <a:ext cx="10485120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6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Làm sao để sử dụng được ?</a:t>
            </a:r>
          </a:p>
          <a:p>
            <a:endParaRPr lang="en-US" sz="5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132115" y="1761249"/>
            <a:ext cx="601762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200" dirty="0" smtClean="0">
                <a:latin typeface="+mj-lt"/>
              </a:rPr>
              <a:t>-	</a:t>
            </a:r>
            <a:r>
              <a:rPr lang="vi-VN" sz="3200" dirty="0" smtClean="0">
                <a:solidFill>
                  <a:srgbClr val="FFFF00"/>
                </a:solidFill>
                <a:latin typeface="+mj-lt"/>
              </a:rPr>
              <a:t>Lời gọi hàm </a:t>
            </a:r>
            <a:r>
              <a:rPr lang="vi-VN" sz="2400" dirty="0" smtClean="0"/>
              <a:t>(call Funstion)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07935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05051" y="113212"/>
            <a:ext cx="6017622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5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Ví dụ minh họa </a:t>
            </a:r>
            <a:endParaRPr lang="en-US" sz="5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39687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05051" y="113212"/>
            <a:ext cx="6017622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55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Ví dụ minh họa </a:t>
            </a:r>
            <a:endParaRPr lang="en-US" sz="55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031" y="1423686"/>
            <a:ext cx="11751774" cy="53417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610231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BACC050B-8757-4460-95D8-E37B46A6B42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1552</TotalTime>
  <Words>826</Words>
  <Application>Microsoft Office PowerPoint</Application>
  <PresentationFormat>Widescreen</PresentationFormat>
  <Paragraphs>122</Paragraphs>
  <Slides>33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8" baseType="lpstr">
      <vt:lpstr>Arial</vt:lpstr>
      <vt:lpstr>Century Gothic</vt:lpstr>
      <vt:lpstr>Times New Roman</vt:lpstr>
      <vt:lpstr>Wingdings 3</vt:lpstr>
      <vt:lpstr>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Quốc Tuấn Nguyễn</dc:creator>
  <cp:lastModifiedBy>Quốc Tuấn Nguyễn</cp:lastModifiedBy>
  <cp:revision>27</cp:revision>
  <dcterms:created xsi:type="dcterms:W3CDTF">2019-05-27T14:14:39Z</dcterms:created>
  <dcterms:modified xsi:type="dcterms:W3CDTF">2019-05-31T04:48:43Z</dcterms:modified>
</cp:coreProperties>
</file>